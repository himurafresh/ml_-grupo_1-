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  <p:sldId id="257" r:id="rId13"/>
    <p:sldId id="259" r:id="rId14"/>
    <p:sldId id="260" r:id="rId15"/>
    <p:sldId id="258" r:id="rId16"/>
    <p:sldId id="263" r:id="rId17"/>
    <p:sldId id="265" r:id="rId18"/>
    <p:sldId id="261" r:id="rId19"/>
  </p:sldIdLst>
  <p:sldSz cx="12192000" cy="6858000"/>
  <p:notesSz cx="7559675" cy="10691813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2A699C3-18A9-44F3-9C5D-B3B990A48635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06BECDE0-2315-4D5E-9F41-87C3577B7B3C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9AB83DA5-7C9B-4446-A0F4-495A23E4AD82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0D01BD7-D985-4E17-8198-68E8842941EE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142E53AF-0962-448F-911E-65495E28EDDC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ES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96989DC8-3364-4929-99AC-5023D10FE7EA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3D3E7A6D-0DA4-4961-8BBA-506A50118B82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E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C10B1F8D-9E21-442E-BC04-944C80561165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962A7160-8098-4A38-A3EB-6FF190A6CDC4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647A6C89-3235-4491-83EC-88C8E4A03837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961B7516-F707-491E-9122-4AE51444FC33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0F2BEAA-5BA3-4D5A-B886-17C8E8869AE0}" type="slidenum">
              <a: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800" b="0" strike="noStrike" spc="-1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3F80331-2B6F-4CAD-814B-7DFB538CD241}" type="slidenum">
              <a: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F1105AB-0BFF-4AC2-A98F-B4FC36DC2505}" type="slidenum">
              <a: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Séptimo nivel del esquema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3E45A2-9405-4880-A14F-327D4D9FFCCF}" type="slidenum">
              <a: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9D7527B-4B63-4828-B0B4-41DCDB1FD2CB}" type="slidenum">
              <a: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Séptimo nivel del esquema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0720" cy="435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Segundo nivel del esquema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Tercer nivel del esquema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 del esquema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Quinto nivel del esquema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Sexto nivel del esquema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Séptimo nivel del esquema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FCD6AF-C0E2-4062-8CE6-BB8E06ED978F}" type="slidenum">
              <a: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7360C1C-65C2-4FD0-BE6C-9D0F1F2F1038}" type="slidenum">
              <a: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C8E2F2-7B5D-4EC3-A0A1-02097A6CCE76}" type="slidenum">
              <a: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25CC83-7D75-44FF-97F5-1E5C2D1D9828}" type="slidenum">
              <a: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A60430-CD6C-46C0-A094-497D6F610003}" type="slidenum">
              <a: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9823C5C-7FC8-4D9E-8929-9D1141BAD269}" type="slidenum">
              <a:rPr lang="es-E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E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4.xml"/><Relationship Id="rId6" Type="http://schemas.openxmlformats.org/officeDocument/2006/relationships/slide" Target="slide8.xml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slide" Target="slide5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slide" Target="slide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n 8"/>
          <p:cNvPicPr/>
          <p:nvPr/>
        </p:nvPicPr>
        <p:blipFill>
          <a:blip r:embed="rId2"/>
          <a:stretch/>
        </p:blipFill>
        <p:spPr>
          <a:xfrm>
            <a:off x="0" y="-2160"/>
            <a:ext cx="12186000" cy="6854400"/>
          </a:xfrm>
          <a:prstGeom prst="rect">
            <a:avLst/>
          </a:prstGeom>
          <a:ln w="0">
            <a:noFill/>
          </a:ln>
        </p:spPr>
      </p:pic>
      <p:pic>
        <p:nvPicPr>
          <p:cNvPr id="50" name="Imagen 5"/>
          <p:cNvPicPr/>
          <p:nvPr/>
        </p:nvPicPr>
        <p:blipFill>
          <a:blip r:embed="rId3"/>
          <a:stretch/>
        </p:blipFill>
        <p:spPr>
          <a:xfrm>
            <a:off x="6091200" y="3424320"/>
            <a:ext cx="8280" cy="8280"/>
          </a:xfrm>
          <a:prstGeom prst="rect">
            <a:avLst/>
          </a:prstGeom>
          <a:ln w="0">
            <a:noFill/>
          </a:ln>
        </p:spPr>
      </p:pic>
      <p:sp>
        <p:nvSpPr>
          <p:cNvPr id="51" name="CuadroTexto 12"/>
          <p:cNvSpPr/>
          <p:nvPr/>
        </p:nvSpPr>
        <p:spPr>
          <a:xfrm>
            <a:off x="7229880" y="727920"/>
            <a:ext cx="4956480" cy="363960"/>
          </a:xfrm>
          <a:prstGeom prst="rect">
            <a:avLst/>
          </a:prstGeom>
          <a:noFill/>
          <a:ln w="0">
            <a:noFill/>
          </a:ln>
          <a:effectLst>
            <a:outerShdw blurRad="50760" dist="38160" algn="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1" strike="noStrike" spc="-1">
                <a:solidFill>
                  <a:schemeClr val="lt1"/>
                </a:solidFill>
                <a:latin typeface="Calibri"/>
              </a:rPr>
              <a:t>Oferta turística vs precios de vivienda en Madrid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CuadroTexto 14"/>
          <p:cNvSpPr/>
          <p:nvPr/>
        </p:nvSpPr>
        <p:spPr>
          <a:xfrm>
            <a:off x="7229880" y="1097280"/>
            <a:ext cx="4741200" cy="1431360"/>
          </a:xfrm>
          <a:prstGeom prst="rect">
            <a:avLst/>
          </a:prstGeom>
          <a:noFill/>
          <a:ln w="0">
            <a:noFill/>
          </a:ln>
          <a:effectLst>
            <a:outerShdw blurRad="50760" dist="37674" dir="2700000" algn="t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Calibri"/>
              </a:rPr>
              <a:t>Participantes: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Calibri"/>
              </a:rPr>
              <a:t>Nazareth Montero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Calibri"/>
              </a:rPr>
              <a:t>Javier Pascual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Calibri"/>
              </a:rPr>
              <a:t>Román Diaz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es-ES" sz="1400" b="0" strike="noStrike" spc="-1">
                <a:solidFill>
                  <a:schemeClr val="lt1"/>
                </a:solidFill>
                <a:latin typeface="Calibri"/>
              </a:rPr>
              <a:t>Sara Ruiz</a:t>
            </a:r>
            <a:endParaRPr lang="es-E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ángulo 5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" name="CuadroTexto 7"/>
          <p:cNvSpPr/>
          <p:nvPr/>
        </p:nvSpPr>
        <p:spPr>
          <a:xfrm>
            <a:off x="527760" y="479520"/>
            <a:ext cx="11135160" cy="115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7000" b="1" strike="noStrike" spc="-1">
                <a:solidFill>
                  <a:schemeClr val="accent2">
                    <a:lumMod val="50000"/>
                  </a:schemeClr>
                </a:solidFill>
                <a:latin typeface="Calibri Light"/>
              </a:rPr>
              <a:t>INDICE</a:t>
            </a:r>
            <a:endParaRPr lang="es-ES" sz="7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CuadroTexto 8"/>
          <p:cNvSpPr/>
          <p:nvPr/>
        </p:nvSpPr>
        <p:spPr>
          <a:xfrm>
            <a:off x="576000" y="2551680"/>
            <a:ext cx="1716120" cy="66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900" b="1" strike="noStrike" spc="-1">
                <a:solidFill>
                  <a:schemeClr val="accent2">
                    <a:lumMod val="50000"/>
                  </a:schemeClr>
                </a:solidFill>
                <a:latin typeface="Calibri"/>
              </a:rPr>
              <a:t>1.  Problema de negocio</a:t>
            </a:r>
            <a:endParaRPr lang="es-E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CuadroTexto 9"/>
          <p:cNvSpPr/>
          <p:nvPr/>
        </p:nvSpPr>
        <p:spPr>
          <a:xfrm>
            <a:off x="2819520" y="2551680"/>
            <a:ext cx="1963440" cy="66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900" b="1" strike="noStrike" spc="-1">
                <a:solidFill>
                  <a:schemeClr val="accent2">
                    <a:lumMod val="50000"/>
                  </a:schemeClr>
                </a:solidFill>
                <a:latin typeface="Calibri"/>
              </a:rPr>
              <a:t>2.  Planteamiento técnico</a:t>
            </a:r>
            <a:endParaRPr lang="es-E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CuadroTexto 10"/>
          <p:cNvSpPr/>
          <p:nvPr/>
        </p:nvSpPr>
        <p:spPr>
          <a:xfrm>
            <a:off x="5310360" y="2551680"/>
            <a:ext cx="1569600" cy="66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900" b="1" strike="noStrike" spc="-1">
                <a:solidFill>
                  <a:schemeClr val="accent2">
                    <a:lumMod val="50000"/>
                  </a:schemeClr>
                </a:solidFill>
                <a:latin typeface="Calibri"/>
              </a:rPr>
              <a:t>3.  Dataset y EDA</a:t>
            </a:r>
            <a:endParaRPr lang="es-E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CuadroTexto 11"/>
          <p:cNvSpPr/>
          <p:nvPr/>
        </p:nvSpPr>
        <p:spPr>
          <a:xfrm>
            <a:off x="9504720" y="2551680"/>
            <a:ext cx="2026080" cy="379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900" b="1" strike="noStrike" spc="-1">
                <a:solidFill>
                  <a:schemeClr val="accent2">
                    <a:lumMod val="50000"/>
                  </a:schemeClr>
                </a:solidFill>
                <a:latin typeface="Calibri"/>
              </a:rPr>
              <a:t>5.  Conclusiones</a:t>
            </a:r>
            <a:endParaRPr lang="es-ES" sz="1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Imagen 20">
            <a:hlinkClick r:id="rId2" action="ppaction://hlinksldjump"/>
          </p:cNvPr>
          <p:cNvPicPr/>
          <p:nvPr/>
        </p:nvPicPr>
        <p:blipFill>
          <a:blip r:embed="rId3"/>
          <a:stretch/>
        </p:blipFill>
        <p:spPr>
          <a:xfrm>
            <a:off x="667440" y="3847320"/>
            <a:ext cx="1716120" cy="1155960"/>
          </a:xfrm>
          <a:prstGeom prst="rect">
            <a:avLst/>
          </a:prstGeom>
          <a:ln w="0">
            <a:noFill/>
          </a:ln>
        </p:spPr>
      </p:pic>
      <p:pic>
        <p:nvPicPr>
          <p:cNvPr id="60" name="Imagen 22">
            <a:hlinkClick r:id="rId4" action="ppaction://hlinksldjump"/>
          </p:cNvPr>
          <p:cNvPicPr/>
          <p:nvPr/>
        </p:nvPicPr>
        <p:blipFill>
          <a:blip r:embed="rId5"/>
          <a:stretch/>
        </p:blipFill>
        <p:spPr>
          <a:xfrm>
            <a:off x="3128760" y="3767040"/>
            <a:ext cx="1492920" cy="1316160"/>
          </a:xfrm>
          <a:prstGeom prst="rect">
            <a:avLst/>
          </a:prstGeom>
          <a:ln w="0">
            <a:noFill/>
          </a:ln>
        </p:spPr>
      </p:pic>
      <p:pic>
        <p:nvPicPr>
          <p:cNvPr id="61" name="Imagen 26">
            <a:hlinkClick r:id="rId6" action="ppaction://hlinksldjump"/>
          </p:cNvPr>
          <p:cNvPicPr/>
          <p:nvPr/>
        </p:nvPicPr>
        <p:blipFill>
          <a:blip r:embed="rId7"/>
          <a:stretch/>
        </p:blipFill>
        <p:spPr>
          <a:xfrm>
            <a:off x="9886320" y="3793320"/>
            <a:ext cx="1368360" cy="1102320"/>
          </a:xfrm>
          <a:prstGeom prst="rect">
            <a:avLst/>
          </a:prstGeom>
          <a:ln w="0">
            <a:noFill/>
          </a:ln>
        </p:spPr>
      </p:pic>
      <p:pic>
        <p:nvPicPr>
          <p:cNvPr id="62" name="Imagen 28">
            <a:hlinkClick r:id="rId8" action="ppaction://hlinksldjump"/>
          </p:cNvPr>
          <p:cNvPicPr/>
          <p:nvPr/>
        </p:nvPicPr>
        <p:blipFill>
          <a:blip r:embed="rId9"/>
          <a:stretch/>
        </p:blipFill>
        <p:spPr>
          <a:xfrm>
            <a:off x="7508160" y="3716640"/>
            <a:ext cx="1368360" cy="1316160"/>
          </a:xfrm>
          <a:prstGeom prst="rect">
            <a:avLst/>
          </a:prstGeom>
          <a:ln w="0">
            <a:noFill/>
          </a:ln>
        </p:spPr>
      </p:pic>
      <p:sp>
        <p:nvSpPr>
          <p:cNvPr id="63" name="CuadroTexto 10"/>
          <p:cNvSpPr/>
          <p:nvPr/>
        </p:nvSpPr>
        <p:spPr>
          <a:xfrm>
            <a:off x="7407720" y="2551680"/>
            <a:ext cx="1569600" cy="66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s-ES" sz="1900" b="1" strike="noStrike" spc="-1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4.  Modelado y resultados</a:t>
            </a:r>
            <a:endParaRPr lang="es-ES" sz="19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4" name="Marcador de contenido 6">
            <a:hlinkClick r:id="rId8" action="ppaction://hlinksldjump"/>
          </p:cNvPr>
          <p:cNvPicPr/>
          <p:nvPr/>
        </p:nvPicPr>
        <p:blipFill>
          <a:blip r:embed="rId10"/>
          <a:stretch/>
        </p:blipFill>
        <p:spPr>
          <a:xfrm>
            <a:off x="5366520" y="3332880"/>
            <a:ext cx="1699200" cy="2424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ángulo 2"/>
          <p:cNvSpPr/>
          <p:nvPr/>
        </p:nvSpPr>
        <p:spPr>
          <a:xfrm>
            <a:off x="1080" y="0"/>
            <a:ext cx="12191040" cy="6856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s-E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CuadroTexto 6"/>
          <p:cNvSpPr/>
          <p:nvPr/>
        </p:nvSpPr>
        <p:spPr>
          <a:xfrm>
            <a:off x="527760" y="479520"/>
            <a:ext cx="11135160" cy="62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3500" b="1" strike="noStrike" spc="-1">
                <a:solidFill>
                  <a:srgbClr val="582808"/>
                </a:solidFill>
                <a:latin typeface="Calibri Light"/>
              </a:rPr>
              <a:t>EDA – Duplicados, missings y outliers (JAVI)</a:t>
            </a:r>
            <a:endParaRPr lang="es-ES" sz="3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CuadroTexto 13"/>
          <p:cNvSpPr/>
          <p:nvPr/>
        </p:nvSpPr>
        <p:spPr>
          <a:xfrm>
            <a:off x="716400" y="1839960"/>
            <a:ext cx="10946520" cy="447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 defTabSz="914400">
              <a:lnSpc>
                <a:spcPct val="100000"/>
              </a:lnSpc>
              <a:buClr>
                <a:srgbClr val="582808"/>
              </a:buClr>
              <a:buFont typeface="Wingdings" charset="2"/>
              <a:buChar char=""/>
            </a:pP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Al partir de tres </a:t>
            </a:r>
            <a:r>
              <a:rPr lang="es-ES" sz="1800" b="0" strike="noStrike" spc="-1" dirty="0" err="1">
                <a:solidFill>
                  <a:srgbClr val="582808"/>
                </a:solidFill>
                <a:latin typeface="Calibri"/>
              </a:rPr>
              <a:t>subdatasets</a:t>
            </a: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 que unificamos en el </a:t>
            </a:r>
            <a:r>
              <a:rPr lang="es-ES" sz="1800" b="0" strike="noStrike" spc="-1" dirty="0" err="1">
                <a:solidFill>
                  <a:srgbClr val="582808"/>
                </a:solidFill>
                <a:latin typeface="Calibri"/>
              </a:rPr>
              <a:t>dataset</a:t>
            </a: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 definitivo de partida, la mayoría de duplicados ya los eliminamos previamente localizando coincidencias por id. Por lo que en este punto, teníamos un número reducido de duplicados en nuestro </a:t>
            </a:r>
            <a:r>
              <a:rPr lang="es-ES" sz="1800" b="0" strike="noStrike" spc="-1" dirty="0" err="1">
                <a:solidFill>
                  <a:srgbClr val="582808"/>
                </a:solidFill>
                <a:latin typeface="Calibri"/>
              </a:rPr>
              <a:t>dataframe</a:t>
            </a: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 que eliminamos.</a:t>
            </a: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582808"/>
              </a:buClr>
              <a:buFont typeface="Wingdings" charset="2"/>
              <a:buChar char=""/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582808"/>
              </a:buClr>
              <a:buFont typeface="Wingdings" charset="2"/>
              <a:buChar char=""/>
            </a:pP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Continuamos con el tratamiento de nulos o </a:t>
            </a:r>
            <a:r>
              <a:rPr lang="es-ES" sz="1800" b="0" strike="noStrike" spc="-1" dirty="0" err="1">
                <a:solidFill>
                  <a:srgbClr val="582808"/>
                </a:solidFill>
                <a:latin typeface="Calibri"/>
              </a:rPr>
              <a:t>missings</a:t>
            </a: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, valorando para cada </a:t>
            </a:r>
            <a:r>
              <a:rPr lang="es-ES" sz="1800" b="0" strike="noStrike" spc="-1" dirty="0" err="1">
                <a:solidFill>
                  <a:srgbClr val="582808"/>
                </a:solidFill>
                <a:latin typeface="Calibri"/>
              </a:rPr>
              <a:t>feature</a:t>
            </a: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 la solución más acorde en función del porcentaje de nulos y el tipo de la columna.</a:t>
            </a:r>
            <a:br>
              <a:rPr sz="1800" dirty="0"/>
            </a:b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Aplicamos tratamientos que van desde la eliminación de una </a:t>
            </a:r>
            <a:r>
              <a:rPr lang="es-ES" sz="1800" b="0" strike="noStrike" spc="-1" dirty="0" err="1">
                <a:solidFill>
                  <a:srgbClr val="582808"/>
                </a:solidFill>
                <a:latin typeface="Calibri"/>
              </a:rPr>
              <a:t>feature</a:t>
            </a: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 completa al presentar un porcentaje muy elevado de </a:t>
            </a:r>
            <a:r>
              <a:rPr lang="es-ES" sz="1800" b="0" strike="noStrike" spc="-1" dirty="0" err="1">
                <a:solidFill>
                  <a:srgbClr val="582808"/>
                </a:solidFill>
                <a:latin typeface="Calibri"/>
              </a:rPr>
              <a:t>missings</a:t>
            </a: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 y ser de poca relevancia para el objetivo, hasta imputación de medianas, modas, mapeo de datos en función de clasificación de los valores e imputación de 0 u otros valores según la distribución de cada </a:t>
            </a:r>
            <a:r>
              <a:rPr lang="es-ES" sz="1800" b="0" strike="noStrike" spc="-1" dirty="0" err="1">
                <a:solidFill>
                  <a:srgbClr val="582808"/>
                </a:solidFill>
                <a:latin typeface="Calibri"/>
              </a:rPr>
              <a:t>feature</a:t>
            </a: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.</a:t>
            </a:r>
            <a:br>
              <a:rPr sz="1800" dirty="0"/>
            </a:b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 </a:t>
            </a: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582808"/>
              </a:buClr>
              <a:buFont typeface="Wingdings" charset="2"/>
              <a:buChar char=""/>
            </a:pP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Por último, para concluir con esta evaluación preliminar de features, detectamos los posibles </a:t>
            </a:r>
            <a:r>
              <a:rPr lang="es-ES" sz="1800" b="0" strike="noStrike" spc="-1" dirty="0" err="1">
                <a:solidFill>
                  <a:srgbClr val="582808"/>
                </a:solidFill>
                <a:latin typeface="Calibri"/>
              </a:rPr>
              <a:t>outliers</a:t>
            </a: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.</a:t>
            </a:r>
            <a:br>
              <a:rPr sz="1800" dirty="0"/>
            </a:b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En nuestro caso visualizamos los percentiles extremos 1% y 99% para comparar con los valores mínimos y máximos.</a:t>
            </a:r>
            <a:br>
              <a:rPr sz="1800" dirty="0"/>
            </a:b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Con esta visualización, igualamos los máximos al valor del percentil 99% de alguna </a:t>
            </a:r>
            <a:r>
              <a:rPr lang="es-ES" sz="1800" b="0" strike="noStrike" spc="-1" dirty="0" err="1">
                <a:solidFill>
                  <a:srgbClr val="582808"/>
                </a:solidFill>
                <a:latin typeface="Calibri"/>
              </a:rPr>
              <a:t>feature</a:t>
            </a:r>
            <a:r>
              <a:rPr lang="es-ES" sz="1800" b="0" strike="noStrike" spc="-1" dirty="0">
                <a:solidFill>
                  <a:srgbClr val="582808"/>
                </a:solidFill>
                <a:latin typeface="Calibri"/>
              </a:rPr>
              <a:t> que carecía de sentido ese valor máximo.</a:t>
            </a: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Imagen 7"/>
          <p:cNvPicPr/>
          <p:nvPr/>
        </p:nvPicPr>
        <p:blipFill>
          <a:blip r:embed="rId2"/>
          <a:stretch/>
        </p:blipFill>
        <p:spPr>
          <a:xfrm>
            <a:off x="10348920" y="479520"/>
            <a:ext cx="1314000" cy="987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ángulo 3"/>
          <p:cNvSpPr/>
          <p:nvPr/>
        </p:nvSpPr>
        <p:spPr>
          <a:xfrm>
            <a:off x="1080" y="0"/>
            <a:ext cx="12191040" cy="6856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s-E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CuadroTexto 15"/>
          <p:cNvSpPr/>
          <p:nvPr/>
        </p:nvSpPr>
        <p:spPr>
          <a:xfrm>
            <a:off x="527760" y="479520"/>
            <a:ext cx="11135160" cy="62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3500" b="1" strike="noStrike" spc="-1">
                <a:solidFill>
                  <a:srgbClr val="582808"/>
                </a:solidFill>
                <a:latin typeface="Calibri Light"/>
                <a:ea typeface="Microsoft YaHei"/>
              </a:rPr>
              <a:t>EDA – Feature engineering </a:t>
            </a:r>
            <a:r>
              <a:rPr lang="es-ES" sz="3500" b="1" strike="noStrike" spc="-1">
                <a:solidFill>
                  <a:srgbClr val="582808"/>
                </a:solidFill>
                <a:latin typeface="Calibri Light"/>
              </a:rPr>
              <a:t> (JAVI)</a:t>
            </a:r>
            <a:endParaRPr lang="es-ES" sz="3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CuadroTexto 16"/>
          <p:cNvSpPr/>
          <p:nvPr/>
        </p:nvSpPr>
        <p:spPr>
          <a:xfrm>
            <a:off x="716400" y="1260000"/>
            <a:ext cx="10946520" cy="5301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1800" b="0" strike="noStrike" spc="-1">
                <a:solidFill>
                  <a:srgbClr val="582808"/>
                </a:solidFill>
                <a:latin typeface="Calibri"/>
              </a:rPr>
              <a:t>Dado el objetivo de nuestro modelo de Machine Learning, teníamos que tratar las features categóricas en numéricas, de forma que pudiésemos dotarlas de sentido y significado para el entrenamiento del modelo.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strike="noStrike" spc="-1">
                <a:solidFill>
                  <a:srgbClr val="582808"/>
                </a:solidFill>
                <a:latin typeface="Calibri"/>
              </a:rPr>
              <a:t>Por ello, tratamos individualmente cada columna categórica y fuimos aplicando el encoding más acorde en función de su cardinalidad.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strike="noStrike" spc="-1">
                <a:solidFill>
                  <a:srgbClr val="582808"/>
                </a:solidFill>
                <a:latin typeface="Calibri"/>
              </a:rPr>
              <a:t>Algunas features con pocos valores únicos era fácilmente transformables en binarias o aplicándoles one-hot-encoding para la generación de estas columnas binarias-numéricas y alguna variable susceptible de mapeo de datos para su conversión en numérica.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strike="noStrike" spc="-1">
                <a:solidFill>
                  <a:srgbClr val="582808"/>
                </a:solidFill>
                <a:latin typeface="Calibri"/>
              </a:rPr>
              <a:t>En el caso de otras features de tipo texto, extrajimos parte numérica que podía tener sentido para el modelo y también tratamos la parte de texto generando una columna binaria si por ejemplo la fila del dataset tenía una característica o no.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strike="noStrike" spc="-1">
                <a:solidFill>
                  <a:srgbClr val="582808"/>
                </a:solidFill>
                <a:latin typeface="Calibri"/>
              </a:rPr>
              <a:t>Con todo ello, fuimos transformando las categóricas en numéricas, aportando valor a las features para mejorar el aprendizaje del modelo.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ES" sz="1800" b="0" strike="noStrike" spc="-1">
                <a:solidFill>
                  <a:srgbClr val="582808"/>
                </a:solidFill>
                <a:latin typeface="Calibri"/>
              </a:rPr>
              <a:t>Por último, alguna feature con alta cardinalidad, tuvimos que aplicarle feature encoding para dotarla de sentido para el modelo, por lo que este tratamiento lo aplicamos únicamente a train para no provocar un “</a:t>
            </a:r>
            <a:r>
              <a:rPr lang="es-ES" sz="1800" b="0" i="1" strike="noStrike" spc="-1">
                <a:solidFill>
                  <a:srgbClr val="582808"/>
                </a:solidFill>
                <a:latin typeface="Calibri"/>
              </a:rPr>
              <a:t>data leakage</a:t>
            </a:r>
            <a:r>
              <a:rPr lang="es-ES" sz="1800" b="0" strike="noStrike" spc="-1">
                <a:solidFill>
                  <a:srgbClr val="582808"/>
                </a:solidFill>
                <a:latin typeface="Calibri"/>
              </a:rPr>
              <a:t>” en los datos sobre los que predeciríamos.</a:t>
            </a: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Imagen 9"/>
          <p:cNvPicPr/>
          <p:nvPr/>
        </p:nvPicPr>
        <p:blipFill>
          <a:blip r:embed="rId2"/>
          <a:stretch/>
        </p:blipFill>
        <p:spPr>
          <a:xfrm>
            <a:off x="10348920" y="479520"/>
            <a:ext cx="1314000" cy="987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ángulo 5"/>
          <p:cNvSpPr/>
          <p:nvPr/>
        </p:nvSpPr>
        <p:spPr>
          <a:xfrm>
            <a:off x="960" y="0"/>
            <a:ext cx="12191040" cy="6856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strike="noStrike" spc="-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" name="CuadroTexto 7"/>
          <p:cNvSpPr/>
          <p:nvPr/>
        </p:nvSpPr>
        <p:spPr>
          <a:xfrm>
            <a:off x="527760" y="479520"/>
            <a:ext cx="11135160" cy="1014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s-ES" sz="35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Modelado y resultados </a:t>
            </a:r>
            <a:r>
              <a:rPr lang="es-ES" sz="25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(Selección de métricas y Cross Validation)</a:t>
            </a:r>
          </a:p>
          <a:p>
            <a:endParaRPr lang="es-ES" sz="2500" b="1" spc="-1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7" name="CuadroTexto 2"/>
          <p:cNvSpPr/>
          <p:nvPr/>
        </p:nvSpPr>
        <p:spPr>
          <a:xfrm>
            <a:off x="716400" y="1947960"/>
            <a:ext cx="109465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s-E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37AF994-6692-B983-CB34-D40E8FFF1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159" y="1558252"/>
            <a:ext cx="11733841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Transformamos el target a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revenue_log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 = log1p(revenue) para reducir asimetría y el impacto de outliers en una variable monetaria.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Elegimos 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RMSE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 como métrica principal (sobre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revenue_log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) porque penaliza más los errores grandes y permite comparar modelos de forma consistente.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Para interpretar resultados en euros, deshacemos la transformación al evaluar: revenue = expm1(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revenue_log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Establecimos un único protocolo de evaluación con 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K-</a:t>
            </a:r>
            <a:r>
              <a:rPr kumimoji="0" lang="es-CL" altLang="es-CL" sz="2000" b="1" i="0" u="none" strike="noStrike" cap="none" normalizeH="0" baseline="0" dirty="0" err="1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Fold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 Cross-Validation (k=5)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, usando shuffle=True y random_state= 42 para reproducibilidad.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Regla clave: todos los modelos se evalúan con 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la misma CV y la misma métrica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latin typeface="+mj-lt"/>
              </a:rPr>
              <a:t>, evitando comparaciones sesgadas.</a:t>
            </a:r>
          </a:p>
        </p:txBody>
      </p:sp>
      <p:pic>
        <p:nvPicPr>
          <p:cNvPr id="7" name="Imagen 28">
            <a:hlinkClick r:id="rId2" action="ppaction://hlinksldjump"/>
            <a:extLst>
              <a:ext uri="{FF2B5EF4-FFF2-40B4-BE49-F238E27FC236}">
                <a16:creationId xmlns:a16="http://schemas.microsoft.com/office/drawing/2014/main" id="{79563867-AB1B-5C56-6DFA-397F157D885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294560" y="242092"/>
            <a:ext cx="1368360" cy="13161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D9308-8FED-78CC-795C-C73711E96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ángulo 5">
            <a:extLst>
              <a:ext uri="{FF2B5EF4-FFF2-40B4-BE49-F238E27FC236}">
                <a16:creationId xmlns:a16="http://schemas.microsoft.com/office/drawing/2014/main" id="{E3F3403C-0898-DF37-8E0A-3CB66ED5BE76}"/>
              </a:ext>
            </a:extLst>
          </p:cNvPr>
          <p:cNvSpPr/>
          <p:nvPr/>
        </p:nvSpPr>
        <p:spPr>
          <a:xfrm>
            <a:off x="-180" y="1080"/>
            <a:ext cx="12191040" cy="6856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strike="noStrike" spc="-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6" name="CuadroTexto 7">
            <a:extLst>
              <a:ext uri="{FF2B5EF4-FFF2-40B4-BE49-F238E27FC236}">
                <a16:creationId xmlns:a16="http://schemas.microsoft.com/office/drawing/2014/main" id="{4A8F80E1-C4AD-C455-ACA7-7A77C7151180}"/>
              </a:ext>
            </a:extLst>
          </p:cNvPr>
          <p:cNvSpPr/>
          <p:nvPr/>
        </p:nvSpPr>
        <p:spPr>
          <a:xfrm>
            <a:off x="527760" y="479520"/>
            <a:ext cx="1113516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s-ES" sz="35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Modelado y resultados </a:t>
            </a:r>
            <a:r>
              <a:rPr lang="es-ES" sz="2500" spc="-1" dirty="0">
                <a:solidFill>
                  <a:schemeClr val="accent2">
                    <a:lumMod val="50000"/>
                  </a:schemeClr>
                </a:solidFill>
              </a:rPr>
              <a:t>(Código/Baselines)</a:t>
            </a:r>
            <a:endParaRPr lang="es-ES" sz="2500" spc="-1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64AFE3-85B3-17B3-E0BB-40B45DDAA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69" y="1178848"/>
            <a:ext cx="6379789" cy="519963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C91C020-F91E-B7DB-E38E-692A91AED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996" y="1178848"/>
            <a:ext cx="3556179" cy="311871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E6A9D79-7F64-0582-1BE4-9B1C18070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6860" y="4352012"/>
            <a:ext cx="5279497" cy="2221300"/>
          </a:xfrm>
          <a:prstGeom prst="rect">
            <a:avLst/>
          </a:prstGeom>
        </p:spPr>
      </p:pic>
      <p:pic>
        <p:nvPicPr>
          <p:cNvPr id="14" name="Imagen 28">
            <a:hlinkClick r:id="rId5" action="ppaction://hlinksldjump"/>
            <a:extLst>
              <a:ext uri="{FF2B5EF4-FFF2-40B4-BE49-F238E27FC236}">
                <a16:creationId xmlns:a16="http://schemas.microsoft.com/office/drawing/2014/main" id="{C696DD92-F277-9756-BA09-D6FA55EAF475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10558530" y="143878"/>
            <a:ext cx="1368360" cy="131616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978231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2F821-4221-8CE2-3E79-8711C2084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ángulo 5">
            <a:extLst>
              <a:ext uri="{FF2B5EF4-FFF2-40B4-BE49-F238E27FC236}">
                <a16:creationId xmlns:a16="http://schemas.microsoft.com/office/drawing/2014/main" id="{E96F509D-89D5-7270-4088-76C259A3ADBB}"/>
              </a:ext>
            </a:extLst>
          </p:cNvPr>
          <p:cNvSpPr/>
          <p:nvPr/>
        </p:nvSpPr>
        <p:spPr>
          <a:xfrm>
            <a:off x="960" y="0"/>
            <a:ext cx="12191040" cy="6856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CuadroTexto 7">
            <a:extLst>
              <a:ext uri="{FF2B5EF4-FFF2-40B4-BE49-F238E27FC236}">
                <a16:creationId xmlns:a16="http://schemas.microsoft.com/office/drawing/2014/main" id="{DBF75072-AE1B-E16F-DAC5-BEC7F61FC2F7}"/>
              </a:ext>
            </a:extLst>
          </p:cNvPr>
          <p:cNvSpPr/>
          <p:nvPr/>
        </p:nvSpPr>
        <p:spPr>
          <a:xfrm>
            <a:off x="527760" y="479520"/>
            <a:ext cx="11135160" cy="6294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s-ES" sz="3500" b="1" spc="-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Modelado y resultados</a:t>
            </a:r>
            <a:endParaRPr lang="es-ES" sz="3500" b="1" strike="noStrike" spc="-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0" name="CuadroTexto 1">
            <a:extLst>
              <a:ext uri="{FF2B5EF4-FFF2-40B4-BE49-F238E27FC236}">
                <a16:creationId xmlns:a16="http://schemas.microsoft.com/office/drawing/2014/main" id="{6A1C6BDC-BC2D-1A12-3B61-E1A0C6BA88DE}"/>
              </a:ext>
            </a:extLst>
          </p:cNvPr>
          <p:cNvSpPr/>
          <p:nvPr/>
        </p:nvSpPr>
        <p:spPr>
          <a:xfrm>
            <a:off x="646200" y="1411200"/>
            <a:ext cx="11135160" cy="420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9D6A60C-93B8-2867-C0D4-31E81492AB3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5296" y="1242360"/>
            <a:ext cx="11557624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Pipelines por modelo: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mismo preprocesado (imputación; escalado solo en lineales) para evitar leakage y comparar de forma justa.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Baseline y comparativa: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probamos 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Ridge (baseline)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Random Forest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y 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XGBoost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con 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K-</a:t>
            </a:r>
            <a:r>
              <a:rPr kumimoji="0" lang="es-CL" altLang="es-CL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Fold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CV (k=5)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y 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RMSE sobre revenue_log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Selección del modelo: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el menor RMSE en CV fue 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XGBoost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por lo que se eligió para entrenamiento final y posterior optimización.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Chequeo del target en euros: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calculamos 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media, mediana y percentiles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(tras expm1) para entender la magnitud real del revenue y poder interpretar el error.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Interpretación del RMSE (€):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el revenue tiene 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cola muy pesada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(p99 ≈ 84k€ y </a:t>
            </a:r>
            <a:r>
              <a:rPr kumimoji="0" lang="es-CL" altLang="es-CL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máximo ≈ 2M€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 Como RMSE penaliza errores al cuadrado, estos casos extremos pueden inflar el RMSE en euros aunque el modelo funcione bien para la mayoría.</a:t>
            </a:r>
          </a:p>
        </p:txBody>
      </p:sp>
      <p:pic>
        <p:nvPicPr>
          <p:cNvPr id="7" name="Imagen 28">
            <a:hlinkClick r:id="rId2" action="ppaction://hlinksldjump"/>
            <a:extLst>
              <a:ext uri="{FF2B5EF4-FFF2-40B4-BE49-F238E27FC236}">
                <a16:creationId xmlns:a16="http://schemas.microsoft.com/office/drawing/2014/main" id="{42F73702-51E5-2631-57CC-D0BB26462C81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644306" y="131941"/>
            <a:ext cx="1208156" cy="1147319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762195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ángulo 5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s-ES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CuadroTexto 7"/>
          <p:cNvSpPr/>
          <p:nvPr/>
        </p:nvSpPr>
        <p:spPr>
          <a:xfrm>
            <a:off x="527760" y="479520"/>
            <a:ext cx="11135160" cy="62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s-ES" sz="3500" b="1" strike="noStrike" spc="-1">
                <a:solidFill>
                  <a:srgbClr val="582808"/>
                </a:solidFill>
                <a:latin typeface="Calibri Light"/>
              </a:rPr>
              <a:t>5. Conclusiones</a:t>
            </a:r>
            <a:endParaRPr lang="es-ES" sz="35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Imagen 6"/>
          <p:cNvPicPr/>
          <p:nvPr/>
        </p:nvPicPr>
        <p:blipFill>
          <a:blip r:embed="rId2"/>
          <a:stretch/>
        </p:blipFill>
        <p:spPr>
          <a:xfrm>
            <a:off x="10598040" y="479520"/>
            <a:ext cx="1064880" cy="797760"/>
          </a:xfrm>
          <a:prstGeom prst="rect">
            <a:avLst/>
          </a:prstGeom>
          <a:ln w="0">
            <a:noFill/>
          </a:ln>
        </p:spPr>
      </p:pic>
      <p:sp>
        <p:nvSpPr>
          <p:cNvPr id="80" name="CuadroTexto 1"/>
          <p:cNvSpPr/>
          <p:nvPr/>
        </p:nvSpPr>
        <p:spPr>
          <a:xfrm>
            <a:off x="646200" y="1411200"/>
            <a:ext cx="11135160" cy="420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s-E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</TotalTime>
  <Words>760</Words>
  <Application>Microsoft Office PowerPoint</Application>
  <PresentationFormat>Panorámica</PresentationFormat>
  <Paragraphs>50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11</vt:i4>
      </vt:variant>
      <vt:variant>
        <vt:lpstr>Títulos de diapositiva</vt:lpstr>
      </vt:variant>
      <vt:variant>
        <vt:i4>8</vt:i4>
      </vt:variant>
    </vt:vector>
  </HeadingPairs>
  <TitlesOfParts>
    <vt:vector size="25" baseType="lpstr">
      <vt:lpstr>Arial</vt:lpstr>
      <vt:lpstr>Calibri</vt:lpstr>
      <vt:lpstr>Calibri Light</vt:lpstr>
      <vt:lpstr>Symbol</vt:lpstr>
      <vt:lpstr>Times New Roman</vt:lpstr>
      <vt:lpstr>Wingdings</vt:lpstr>
      <vt:lpstr>Tema de Office</vt:lpstr>
      <vt:lpstr>Tema de Office</vt:lpstr>
      <vt:lpstr>Tema de Office</vt:lpstr>
      <vt:lpstr>Tema de Office</vt:lpstr>
      <vt:lpstr>Tema de Office</vt:lpstr>
      <vt:lpstr>Tema de Office</vt:lpstr>
      <vt:lpstr>Tema de Office</vt:lpstr>
      <vt:lpstr>Tema de Office</vt:lpstr>
      <vt:lpstr>Tema de Office</vt:lpstr>
      <vt:lpstr>Tema de Office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Sara Ruiz Iniesta</dc:creator>
  <dc:description/>
  <cp:lastModifiedBy>Román Diaz</cp:lastModifiedBy>
  <cp:revision>28</cp:revision>
  <dcterms:created xsi:type="dcterms:W3CDTF">2026-01-04T18:35:09Z</dcterms:created>
  <dcterms:modified xsi:type="dcterms:W3CDTF">2026-03-05T13:29:22Z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Panorámica</vt:lpwstr>
  </property>
  <property fmtid="{D5CDD505-2E9C-101B-9397-08002B2CF9AE}" pid="4" name="Slides">
    <vt:i4>12</vt:i4>
  </property>
</Properties>
</file>