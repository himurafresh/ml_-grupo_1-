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9" r:id="rId14"/>
    <p:sldId id="266" r:id="rId15"/>
    <p:sldId id="268" r:id="rId16"/>
    <p:sldId id="269" r:id="rId17"/>
    <p:sldId id="271" r:id="rId18"/>
    <p:sldId id="270" r:id="rId19"/>
    <p:sldId id="267" r:id="rId20"/>
    <p:sldId id="260" r:id="rId21"/>
    <p:sldId id="258" r:id="rId22"/>
    <p:sldId id="263" r:id="rId23"/>
    <p:sldId id="272" r:id="rId24"/>
    <p:sldId id="273" r:id="rId25"/>
    <p:sldId id="274" r:id="rId26"/>
    <p:sldId id="275" r:id="rId27"/>
    <p:sldId id="261" r:id="rId28"/>
    <p:sldId id="276" r:id="rId29"/>
  </p:sldIdLst>
  <p:sldSz cx="12192000" cy="6858000"/>
  <p:notesSz cx="7559675" cy="10691813"/>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presProps" Target="presProps.xml"/><Relationship Id="rId8" Type="http://schemas.openxmlformats.org/officeDocument/2006/relationships/slideMaster" Target="slideMasters/slideMaster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6" name="PlaceHolder 2"/>
          <p:cNvSpPr>
            <a:spLocks noGrp="1"/>
          </p:cNvSpPr>
          <p:nvPr>
            <p:ph type="subTitle"/>
          </p:nvPr>
        </p:nvSpPr>
        <p:spPr>
          <a:xfrm>
            <a:off x="838080" y="1825560"/>
            <a:ext cx="10514520" cy="4350240"/>
          </a:xfrm>
          <a:prstGeom prst="rect">
            <a:avLst/>
          </a:prstGeom>
          <a:noFill/>
          <a:ln w="0">
            <a:noFill/>
          </a:ln>
        </p:spPr>
        <p:txBody>
          <a:bodyPr lIns="0" tIns="0" rIns="0" bIns="0" anchor="ctr">
            <a:noAutofit/>
          </a:bodyPr>
          <a:lstStyle/>
          <a:p>
            <a:pPr indent="0" algn="ctr">
              <a:buNone/>
            </a:pPr>
            <a:endParaRPr lang="es-E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72A699C3-18A9-44F3-9C5D-B3B990A48635}" type="slidenum">
              <a:t>‹Nº›</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06BECDE0-2315-4D5E-9F41-87C3577B7B3C}" type="slidenum">
              <a:t>‹Nº›</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AB83DA5-7C9B-4446-A0F4-495A23E4AD82}" type="slidenum">
              <a:t>‹Nº›</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19" name="PlaceHolder 2"/>
          <p:cNvSpPr>
            <a:spLocks noGrp="1"/>
          </p:cNvSpPr>
          <p:nvPr>
            <p:ph/>
          </p:nvPr>
        </p:nvSpPr>
        <p:spPr>
          <a:xfrm>
            <a:off x="838080" y="1825560"/>
            <a:ext cx="1051452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00D01BD7-D985-4E17-8198-68E8842941EE}"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42E53AF-0962-448F-911E-65495E28EDDC}" type="slidenum">
              <a:t>‹Nº›</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30" name="PlaceHolder 2"/>
          <p:cNvSpPr>
            <a:spLocks noGrp="1"/>
          </p:cNvSpPr>
          <p:nvPr>
            <p:ph/>
          </p:nvPr>
        </p:nvSpPr>
        <p:spPr>
          <a:xfrm>
            <a:off x="838080" y="1825560"/>
            <a:ext cx="513108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31" name="PlaceHolder 3"/>
          <p:cNvSpPr>
            <a:spLocks noGrp="1"/>
          </p:cNvSpPr>
          <p:nvPr>
            <p:ph/>
          </p:nvPr>
        </p:nvSpPr>
        <p:spPr>
          <a:xfrm>
            <a:off x="6226200" y="1825560"/>
            <a:ext cx="5131080" cy="4350240"/>
          </a:xfrm>
          <a:prstGeom prst="rect">
            <a:avLst/>
          </a:prstGeom>
          <a:noFill/>
          <a:ln w="0">
            <a:noFill/>
          </a:ln>
        </p:spPr>
        <p:txBody>
          <a:bodyPr lIns="0" tIns="0" rIns="0" bIns="0" anchor="t">
            <a:normAutofit/>
          </a:bodyPr>
          <a:lstStyle/>
          <a:p>
            <a:pPr indent="0">
              <a:lnSpc>
                <a:spcPct val="90000"/>
              </a:lnSpc>
              <a:spcBef>
                <a:spcPts val="1417"/>
              </a:spcBef>
              <a:buNone/>
            </a:pPr>
            <a:endParaRPr lang="es-ES" sz="2800" b="0" strike="noStrike" spc="-1">
              <a:solidFill>
                <a:schemeClr val="dk1"/>
              </a:solidFill>
              <a:latin typeface="Calibri"/>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96989DC8-3364-4929-99AC-5023D10FE7EA}" type="slidenum">
              <a:t>‹Nº›</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3D3E7A6D-0DA4-4961-8BBA-506A50118B82}" type="slidenum">
              <a:t>‹Nº›</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endParaRPr lang="es-ES" sz="1800" b="0" strike="noStrike" spc="-1">
              <a:solidFill>
                <a:schemeClr val="dk1"/>
              </a:solidFill>
              <a:latin typeface="Calibri"/>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C10B1F8D-9E21-442E-BC04-944C80561165}" type="slidenum">
              <a:t>‹Nº›</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962A7160-8098-4A38-A3EB-6FF190A6CDC4}" type="slidenum">
              <a:t>‹Nº›</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647A6C89-3235-4491-83EC-88C8E4A03837}" type="slidenum">
              <a:t>‹Nº›</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961B7516-F707-491E-9122-4AE51444FC33}" type="slidenum">
              <a:t>‹Nº›</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6" name="PlaceHolder 2"/>
          <p:cNvSpPr>
            <a:spLocks noGrp="1"/>
          </p:cNvSpPr>
          <p:nvPr>
            <p:ph type="ftr" idx="1"/>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 name="PlaceHolder 3"/>
          <p:cNvSpPr>
            <a:spLocks noGrp="1"/>
          </p:cNvSpPr>
          <p:nvPr>
            <p:ph type="sldNum" idx="2"/>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0F2BEAA-5BA3-4D5A-B886-17C8E8869AE0}"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 name="PlaceHolder 4"/>
          <p:cNvSpPr>
            <a:spLocks noGrp="1"/>
          </p:cNvSpPr>
          <p:nvPr>
            <p:ph type="dt" idx="3"/>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2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20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2000" b="0" strike="noStrike" spc="-1">
                <a:solidFill>
                  <a:schemeClr val="dk1"/>
                </a:solidFill>
                <a:latin typeface="Calibri"/>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8" name="PlaceHolder 2"/>
          <p:cNvSpPr>
            <a:spLocks noGrp="1"/>
          </p:cNvSpPr>
          <p:nvPr>
            <p:ph type="sldNum" idx="5"/>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13F80331-2B6F-4CAD-814B-7DFB538CD241}"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9" name="PlaceHolder 3"/>
          <p:cNvSpPr>
            <a:spLocks noGrp="1"/>
          </p:cNvSpPr>
          <p:nvPr>
            <p:ph type="dt" idx="6"/>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11" name="PlaceHolder 2"/>
          <p:cNvSpPr>
            <a:spLocks noGrp="1"/>
          </p:cNvSpPr>
          <p:nvPr>
            <p:ph type="sldNum" idx="8"/>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DF1105AB-0BFF-4AC2-A98F-B4FC36DC250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2" name="PlaceHolder 3"/>
          <p:cNvSpPr>
            <a:spLocks noGrp="1"/>
          </p:cNvSpPr>
          <p:nvPr>
            <p:ph type="dt" idx="9"/>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14" name="PlaceHolder 2"/>
          <p:cNvSpPr>
            <a:spLocks noGrp="1"/>
          </p:cNvSpPr>
          <p:nvPr>
            <p:ph type="body"/>
          </p:nvPr>
        </p:nvSpPr>
        <p:spPr>
          <a:xfrm>
            <a:off x="838080" y="1825560"/>
            <a:ext cx="105145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15" name="PlaceHolder 3"/>
          <p:cNvSpPr>
            <a:spLocks noGrp="1"/>
          </p:cNvSpPr>
          <p:nvPr>
            <p:ph type="ftr" idx="10"/>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16" name="PlaceHolder 4"/>
          <p:cNvSpPr>
            <a:spLocks noGrp="1"/>
          </p:cNvSpPr>
          <p:nvPr>
            <p:ph type="sldNum" idx="11"/>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203E45A2-9405-4880-A14F-327D4D9FFCC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7" name="PlaceHolder 5"/>
          <p:cNvSpPr>
            <a:spLocks noGrp="1"/>
          </p:cNvSpPr>
          <p:nvPr>
            <p:ph type="dt" idx="12"/>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1" name="PlaceHolder 2"/>
          <p:cNvSpPr>
            <a:spLocks noGrp="1"/>
          </p:cNvSpPr>
          <p:nvPr>
            <p:ph type="sldNum" idx="14"/>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9D7527B-4B63-4828-B0B4-41DCDB1FD2CB}"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2" name="PlaceHolder 3"/>
          <p:cNvSpPr>
            <a:spLocks noGrp="1"/>
          </p:cNvSpPr>
          <p:nvPr>
            <p:ph type="dt" idx="15"/>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24" name="PlaceHolder 2"/>
          <p:cNvSpPr>
            <a:spLocks noGrp="1"/>
          </p:cNvSpPr>
          <p:nvPr>
            <p:ph type="body"/>
          </p:nvPr>
        </p:nvSpPr>
        <p:spPr>
          <a:xfrm>
            <a:off x="838080" y="1825560"/>
            <a:ext cx="51307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25" name="PlaceHolder 3"/>
          <p:cNvSpPr>
            <a:spLocks noGrp="1"/>
          </p:cNvSpPr>
          <p:nvPr>
            <p:ph type="body"/>
          </p:nvPr>
        </p:nvSpPr>
        <p:spPr>
          <a:xfrm>
            <a:off x="6226200" y="1825560"/>
            <a:ext cx="5130720" cy="435024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s-ES" sz="1800" b="0" strike="noStrike" spc="-1">
                <a:solidFill>
                  <a:schemeClr val="dk1"/>
                </a:solidFill>
                <a:latin typeface="Calibri"/>
              </a:rPr>
              <a:t>Pulse para editar el formato de texto del esquema</a:t>
            </a:r>
          </a:p>
          <a:p>
            <a:pPr marL="864000" lvl="1" indent="-324000">
              <a:lnSpc>
                <a:spcPct val="90000"/>
              </a:lnSpc>
              <a:spcBef>
                <a:spcPts val="1134"/>
              </a:spcBef>
              <a:buClr>
                <a:srgbClr val="000000"/>
              </a:buClr>
              <a:buSzPct val="75000"/>
              <a:buFont typeface="Symbol" charset="2"/>
              <a:buChar char=""/>
            </a:pPr>
            <a:r>
              <a:rPr lang="es-ES" sz="1800" b="0" strike="noStrike" spc="-1">
                <a:solidFill>
                  <a:schemeClr val="dk1"/>
                </a:solidFill>
                <a:latin typeface="Calibri"/>
              </a:rPr>
              <a:t>Segundo nivel del esquema</a:t>
            </a:r>
          </a:p>
          <a:p>
            <a:pPr marL="1296000" lvl="2" indent="-288000">
              <a:lnSpc>
                <a:spcPct val="90000"/>
              </a:lnSpc>
              <a:spcBef>
                <a:spcPts val="850"/>
              </a:spcBef>
              <a:buClr>
                <a:srgbClr val="000000"/>
              </a:buClr>
              <a:buSzPct val="45000"/>
              <a:buFont typeface="Wingdings" charset="2"/>
              <a:buChar char=""/>
            </a:pPr>
            <a:r>
              <a:rPr lang="es-ES" sz="1800" b="0" strike="noStrike" spc="-1">
                <a:solidFill>
                  <a:schemeClr val="dk1"/>
                </a:solidFill>
                <a:latin typeface="Calibri"/>
              </a:rPr>
              <a:t>Tercer nivel del esquema</a:t>
            </a:r>
          </a:p>
          <a:p>
            <a:pPr marL="1728000" lvl="3" indent="-216000">
              <a:lnSpc>
                <a:spcPct val="90000"/>
              </a:lnSpc>
              <a:spcBef>
                <a:spcPts val="567"/>
              </a:spcBef>
              <a:buClr>
                <a:srgbClr val="000000"/>
              </a:buClr>
              <a:buSzPct val="75000"/>
              <a:buFont typeface="Symbol" charset="2"/>
              <a:buChar char=""/>
            </a:pPr>
            <a:r>
              <a:rPr lang="es-ES" sz="1800" b="0" strike="noStrike" spc="-1">
                <a:solidFill>
                  <a:schemeClr val="dk1"/>
                </a:solidFill>
                <a:latin typeface="Calibri"/>
              </a:rPr>
              <a:t>Cuarto nivel del esquema</a:t>
            </a:r>
          </a:p>
          <a:p>
            <a:pPr marL="2160000" lvl="4"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Quinto nivel del esquema</a:t>
            </a:r>
          </a:p>
          <a:p>
            <a:pPr marL="2592000" lvl="5"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Sexto nivel del esquema</a:t>
            </a:r>
          </a:p>
          <a:p>
            <a:pPr marL="3024000" lvl="6" indent="-216000">
              <a:lnSpc>
                <a:spcPct val="90000"/>
              </a:lnSpc>
              <a:spcBef>
                <a:spcPts val="283"/>
              </a:spcBef>
              <a:buClr>
                <a:srgbClr val="000000"/>
              </a:buClr>
              <a:buSzPct val="45000"/>
              <a:buFont typeface="Wingdings" charset="2"/>
              <a:buChar char=""/>
            </a:pPr>
            <a:r>
              <a:rPr lang="es-ES" sz="1800" b="0" strike="noStrike" spc="-1">
                <a:solidFill>
                  <a:schemeClr val="dk1"/>
                </a:solidFill>
                <a:latin typeface="Calibri"/>
              </a:rPr>
              <a:t>Séptimo nivel del esquema</a:t>
            </a:r>
          </a:p>
        </p:txBody>
      </p:sp>
      <p:sp>
        <p:nvSpPr>
          <p:cNvPr id="26" name="PlaceHolder 4"/>
          <p:cNvSpPr>
            <a:spLocks noGrp="1"/>
          </p:cNvSpPr>
          <p:nvPr>
            <p:ph type="ftr" idx="16"/>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27" name="PlaceHolder 5"/>
          <p:cNvSpPr>
            <a:spLocks noGrp="1"/>
          </p:cNvSpPr>
          <p:nvPr>
            <p:ph type="sldNum" idx="17"/>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8FCD6AF-C0E2-4062-8CE6-BB8E06ED978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8" name="PlaceHolder 6"/>
          <p:cNvSpPr>
            <a:spLocks noGrp="1"/>
          </p:cNvSpPr>
          <p:nvPr>
            <p:ph type="dt" idx="18"/>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33" name="PlaceHolder 2"/>
          <p:cNvSpPr>
            <a:spLocks noGrp="1"/>
          </p:cNvSpPr>
          <p:nvPr>
            <p:ph type="sldNum" idx="20"/>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37360C1C-65C2-4FD0-BE6C-9D0F1F2F103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4" name="PlaceHolder 3"/>
          <p:cNvSpPr>
            <a:spLocks noGrp="1"/>
          </p:cNvSpPr>
          <p:nvPr>
            <p:ph type="dt" idx="21"/>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buNone/>
            </a:pPr>
            <a:r>
              <a:rPr lang="es-ES" sz="4400" b="0" strike="noStrike" spc="-1">
                <a:solidFill>
                  <a:schemeClr val="dk1"/>
                </a:solidFill>
                <a:latin typeface="Calibri"/>
              </a:rPr>
              <a:t>Pulse para editar el formato del texto de título</a:t>
            </a:r>
          </a:p>
        </p:txBody>
      </p:sp>
      <p:sp>
        <p:nvSpPr>
          <p:cNvPr id="36" name="PlaceHolder 2"/>
          <p:cNvSpPr>
            <a:spLocks noGrp="1"/>
          </p:cNvSpPr>
          <p:nvPr>
            <p:ph type="ftr" idx="22"/>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37" name="PlaceHolder 3"/>
          <p:cNvSpPr>
            <a:spLocks noGrp="1"/>
          </p:cNvSpPr>
          <p:nvPr>
            <p:ph type="sldNum" idx="23"/>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E8C8E2F2-7B5D-4EC3-A0A1-02097A6CCE76}"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8" name="PlaceHolder 4"/>
          <p:cNvSpPr>
            <a:spLocks noGrp="1"/>
          </p:cNvSpPr>
          <p:nvPr>
            <p:ph type="dt" idx="24"/>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1" name="PlaceHolder 2"/>
          <p:cNvSpPr>
            <a:spLocks noGrp="1"/>
          </p:cNvSpPr>
          <p:nvPr>
            <p:ph type="sldNum" idx="26"/>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725CC83-7D75-44FF-97F5-1E5C2D1D982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2" name="PlaceHolder 3"/>
          <p:cNvSpPr>
            <a:spLocks noGrp="1"/>
          </p:cNvSpPr>
          <p:nvPr>
            <p:ph type="dt" idx="27"/>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4" name="PlaceHolder 2"/>
          <p:cNvSpPr>
            <a:spLocks noGrp="1"/>
          </p:cNvSpPr>
          <p:nvPr>
            <p:ph type="sldNum" idx="29"/>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0FA60430-CD6C-46C0-A094-497D6F610003}"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5" name="PlaceHolder 3"/>
          <p:cNvSpPr>
            <a:spLocks noGrp="1"/>
          </p:cNvSpPr>
          <p:nvPr>
            <p:ph type="dt" idx="30"/>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3720" cy="3639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s-ES" sz="1400" b="0" strike="noStrike" spc="-1">
                <a:solidFill>
                  <a:srgbClr val="000000"/>
                </a:solidFill>
                <a:latin typeface="Times New Roman"/>
              </a:defRPr>
            </a:lvl1pPr>
          </a:lstStyle>
          <a:p>
            <a:pPr indent="0" algn="ctr" defTabSz="914400">
              <a:lnSpc>
                <a:spcPct val="100000"/>
              </a:lnSpc>
              <a:buNone/>
              <a:tabLst>
                <a:tab pos="0" algn="l"/>
              </a:tabLst>
            </a:pPr>
            <a:r>
              <a:rPr lang="es-ES" sz="1400" b="0" strike="noStrike" spc="-1">
                <a:solidFill>
                  <a:srgbClr val="000000"/>
                </a:solidFill>
                <a:latin typeface="Times New Roman"/>
              </a:rPr>
              <a:t>&lt;pie de página&gt;</a:t>
            </a:r>
          </a:p>
        </p:txBody>
      </p:sp>
      <p:sp>
        <p:nvSpPr>
          <p:cNvPr id="47" name="PlaceHolder 2"/>
          <p:cNvSpPr>
            <a:spLocks noGrp="1"/>
          </p:cNvSpPr>
          <p:nvPr>
            <p:ph type="sldNum" idx="32"/>
          </p:nvPr>
        </p:nvSpPr>
        <p:spPr>
          <a:xfrm>
            <a:off x="8610480" y="6356520"/>
            <a:ext cx="2742120" cy="3639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99823C5C-7FC8-4D9E-8929-9D1141BAD269}"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8" name="PlaceHolder 3"/>
          <p:cNvSpPr>
            <a:spLocks noGrp="1"/>
          </p:cNvSpPr>
          <p:nvPr>
            <p:ph type="dt" idx="33"/>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slide" Target="slide10.xml"/><Relationship Id="rId5" Type="http://schemas.openxmlformats.org/officeDocument/2006/relationships/image" Target="../media/image4.png"/><Relationship Id="rId4" Type="http://schemas.openxmlformats.org/officeDocument/2006/relationships/slide" Target="slide1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slide" Target="slide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2.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2.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2.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2.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slide" Target="slide10.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10.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10.xml"/><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1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Imagen 8"/>
          <p:cNvPicPr/>
          <p:nvPr/>
        </p:nvPicPr>
        <p:blipFill>
          <a:blip r:embed="rId2"/>
          <a:stretch/>
        </p:blipFill>
        <p:spPr>
          <a:xfrm>
            <a:off x="0" y="-2160"/>
            <a:ext cx="12186000" cy="6854400"/>
          </a:xfrm>
          <a:prstGeom prst="rect">
            <a:avLst/>
          </a:prstGeom>
          <a:ln w="0">
            <a:noFill/>
          </a:ln>
        </p:spPr>
      </p:pic>
      <p:pic>
        <p:nvPicPr>
          <p:cNvPr id="50" name="Imagen 5"/>
          <p:cNvPicPr/>
          <p:nvPr/>
        </p:nvPicPr>
        <p:blipFill>
          <a:blip r:embed="rId3"/>
          <a:stretch/>
        </p:blipFill>
        <p:spPr>
          <a:xfrm>
            <a:off x="6091200" y="3424320"/>
            <a:ext cx="8280" cy="8280"/>
          </a:xfrm>
          <a:prstGeom prst="rect">
            <a:avLst/>
          </a:prstGeom>
          <a:ln w="0">
            <a:noFill/>
          </a:ln>
        </p:spPr>
      </p:pic>
      <p:sp>
        <p:nvSpPr>
          <p:cNvPr id="51" name="CuadroTexto 12"/>
          <p:cNvSpPr/>
          <p:nvPr/>
        </p:nvSpPr>
        <p:spPr>
          <a:xfrm>
            <a:off x="5258463" y="509259"/>
            <a:ext cx="6933537" cy="383267"/>
          </a:xfrm>
          <a:prstGeom prst="rect">
            <a:avLst/>
          </a:prstGeom>
          <a:noFill/>
          <a:ln w="0">
            <a:noFill/>
          </a:ln>
          <a:effectLst>
            <a:outerShdw blurRad="50760" dist="38160" algn="l" rotWithShape="0">
              <a:srgbClr val="000000">
                <a:alpha val="40000"/>
              </a:srgbClr>
            </a:outerShdw>
          </a:effectLst>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914400">
              <a:lnSpc>
                <a:spcPct val="100000"/>
              </a:lnSpc>
            </a:pPr>
            <a:r>
              <a:rPr lang="es-ES" sz="1900" b="1" strike="noStrike" spc="-1" dirty="0">
                <a:solidFill>
                  <a:schemeClr val="lt1"/>
                </a:solidFill>
                <a:latin typeface="Calibri"/>
              </a:rPr>
              <a:t>Estimación de rentabilidad anual para vivienda turística en Madrid</a:t>
            </a:r>
            <a:endParaRPr lang="es-ES" sz="1900" b="0" strike="noStrike" spc="-1" dirty="0">
              <a:solidFill>
                <a:srgbClr val="000000"/>
              </a:solidFill>
              <a:latin typeface="Arial"/>
            </a:endParaRPr>
          </a:p>
        </p:txBody>
      </p:sp>
      <p:sp>
        <p:nvSpPr>
          <p:cNvPr id="52" name="CuadroTexto 14"/>
          <p:cNvSpPr/>
          <p:nvPr/>
        </p:nvSpPr>
        <p:spPr>
          <a:xfrm>
            <a:off x="7120550" y="892526"/>
            <a:ext cx="4741200" cy="1568206"/>
          </a:xfrm>
          <a:prstGeom prst="rect">
            <a:avLst/>
          </a:prstGeom>
          <a:noFill/>
          <a:ln w="0">
            <a:noFill/>
          </a:ln>
          <a:effectLst>
            <a:outerShdw blurRad="50760" dist="37674" dir="2700000" algn="t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600" b="0" strike="noStrike" spc="-1" dirty="0">
                <a:solidFill>
                  <a:schemeClr val="lt1"/>
                </a:solidFill>
                <a:latin typeface="Calibri"/>
              </a:rPr>
              <a:t>Participantes:</a:t>
            </a:r>
            <a:endParaRPr lang="es-ES" sz="1600" b="0" strike="noStrike" spc="-1" dirty="0">
              <a:solidFill>
                <a:srgbClr val="000000"/>
              </a:solidFill>
              <a:latin typeface="Arial"/>
            </a:endParaRPr>
          </a:p>
          <a:p>
            <a:pPr algn="r" defTabSz="914400">
              <a:lnSpc>
                <a:spcPct val="100000"/>
              </a:lnSpc>
            </a:pPr>
            <a:r>
              <a:rPr lang="es-ES" sz="1600" b="0" strike="noStrike" spc="-1" dirty="0">
                <a:solidFill>
                  <a:schemeClr val="lt1"/>
                </a:solidFill>
                <a:latin typeface="Calibri"/>
              </a:rPr>
              <a:t>Nazareth Montero</a:t>
            </a:r>
            <a:endParaRPr lang="es-ES" sz="1600" b="0" strike="noStrike" spc="-1" dirty="0">
              <a:solidFill>
                <a:srgbClr val="000000"/>
              </a:solidFill>
              <a:latin typeface="Arial"/>
            </a:endParaRPr>
          </a:p>
          <a:p>
            <a:pPr algn="r" defTabSz="914400">
              <a:lnSpc>
                <a:spcPct val="100000"/>
              </a:lnSpc>
            </a:pPr>
            <a:r>
              <a:rPr lang="es-ES" sz="1600" b="0" strike="noStrike" spc="-1" dirty="0">
                <a:solidFill>
                  <a:schemeClr val="lt1"/>
                </a:solidFill>
                <a:latin typeface="Calibri"/>
              </a:rPr>
              <a:t>Javier Pascual</a:t>
            </a:r>
            <a:endParaRPr lang="es-ES" sz="1600" b="0" strike="noStrike" spc="-1" dirty="0">
              <a:solidFill>
                <a:srgbClr val="000000"/>
              </a:solidFill>
              <a:latin typeface="Arial"/>
            </a:endParaRPr>
          </a:p>
          <a:p>
            <a:pPr algn="r" defTabSz="914400">
              <a:lnSpc>
                <a:spcPct val="100000"/>
              </a:lnSpc>
            </a:pPr>
            <a:r>
              <a:rPr lang="es-ES" sz="1600" b="0" strike="noStrike" spc="-1" dirty="0">
                <a:solidFill>
                  <a:schemeClr val="lt1"/>
                </a:solidFill>
                <a:latin typeface="Calibri"/>
              </a:rPr>
              <a:t>Román Diaz</a:t>
            </a:r>
            <a:endParaRPr lang="es-ES" sz="1600" b="0" strike="noStrike" spc="-1" dirty="0">
              <a:solidFill>
                <a:srgbClr val="000000"/>
              </a:solidFill>
              <a:latin typeface="Arial"/>
            </a:endParaRPr>
          </a:p>
          <a:p>
            <a:pPr algn="r" defTabSz="914400">
              <a:lnSpc>
                <a:spcPct val="100000"/>
              </a:lnSpc>
            </a:pPr>
            <a:r>
              <a:rPr lang="es-ES" sz="1600" b="0" strike="noStrike" spc="-1" dirty="0">
                <a:solidFill>
                  <a:schemeClr val="lt1"/>
                </a:solidFill>
                <a:latin typeface="Calibri"/>
              </a:rPr>
              <a:t>Sara Ruiz</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ángulo 5"/>
          <p:cNvSpPr/>
          <p:nvPr/>
        </p:nvSpPr>
        <p:spPr>
          <a:xfrm>
            <a:off x="960" y="10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54" name="CuadroTexto 7"/>
          <p:cNvSpPr/>
          <p:nvPr/>
        </p:nvSpPr>
        <p:spPr>
          <a:xfrm>
            <a:off x="527760" y="479520"/>
            <a:ext cx="11135160" cy="115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7000" b="1" strike="noStrike" spc="-1">
                <a:solidFill>
                  <a:schemeClr val="accent2">
                    <a:lumMod val="50000"/>
                  </a:schemeClr>
                </a:solidFill>
                <a:latin typeface="Calibri Light"/>
              </a:rPr>
              <a:t>INDICE</a:t>
            </a:r>
            <a:endParaRPr lang="es-ES" sz="7000" b="0" strike="noStrike" spc="-1">
              <a:solidFill>
                <a:srgbClr val="000000"/>
              </a:solidFill>
              <a:latin typeface="Arial"/>
            </a:endParaRPr>
          </a:p>
        </p:txBody>
      </p:sp>
      <p:sp>
        <p:nvSpPr>
          <p:cNvPr id="55" name="CuadroTexto 8"/>
          <p:cNvSpPr/>
          <p:nvPr/>
        </p:nvSpPr>
        <p:spPr>
          <a:xfrm>
            <a:off x="713355" y="3620633"/>
            <a:ext cx="3333820" cy="238381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2000" b="1" spc="-1" dirty="0">
                <a:solidFill>
                  <a:schemeClr val="accent2">
                    <a:lumMod val="50000"/>
                  </a:schemeClr>
                </a:solidFill>
                <a:latin typeface="Calibri"/>
              </a:rPr>
              <a:t>1. EDA</a:t>
            </a:r>
            <a:br>
              <a:rPr lang="es-ES" sz="1700" b="1" spc="-1" dirty="0">
                <a:solidFill>
                  <a:schemeClr val="accent2">
                    <a:lumMod val="50000"/>
                  </a:schemeClr>
                </a:solidFill>
                <a:latin typeface="Calibri"/>
              </a:rPr>
            </a:br>
            <a:endParaRPr lang="es-ES" sz="1700" b="1" spc="-1" dirty="0">
              <a:solidFill>
                <a:srgbClr val="000000"/>
              </a:solidFill>
              <a:latin typeface="Arial"/>
            </a:endParaRPr>
          </a:p>
          <a:p>
            <a:pPr defTabSz="914400">
              <a:lnSpc>
                <a:spcPct val="100000"/>
              </a:lnSpc>
            </a:pPr>
            <a:r>
              <a:rPr lang="es-ES" sz="1600" b="1" spc="-1" dirty="0">
                <a:solidFill>
                  <a:schemeClr val="accent2">
                    <a:lumMod val="50000"/>
                  </a:schemeClr>
                </a:solidFill>
              </a:rPr>
              <a:t>  · Análisis de target y distribución</a:t>
            </a:r>
          </a:p>
          <a:p>
            <a:pPr defTabSz="914400">
              <a:lnSpc>
                <a:spcPct val="100000"/>
              </a:lnSpc>
            </a:pPr>
            <a:r>
              <a:rPr lang="es-ES" sz="1600" b="1" spc="-1" dirty="0">
                <a:solidFill>
                  <a:schemeClr val="accent2">
                    <a:lumMod val="50000"/>
                  </a:schemeClr>
                </a:solidFill>
              </a:rPr>
              <a:t>  · Análisis de variables numéricas</a:t>
            </a:r>
          </a:p>
          <a:p>
            <a:pPr defTabSz="914400">
              <a:lnSpc>
                <a:spcPct val="100000"/>
              </a:lnSpc>
            </a:pPr>
            <a:r>
              <a:rPr lang="es-ES" sz="1600" b="1" spc="-1" dirty="0">
                <a:solidFill>
                  <a:schemeClr val="accent2">
                    <a:lumMod val="50000"/>
                  </a:schemeClr>
                </a:solidFill>
              </a:rPr>
              <a:t>  · Correlación con el target</a:t>
            </a:r>
          </a:p>
          <a:p>
            <a:pPr defTabSz="914400">
              <a:lnSpc>
                <a:spcPct val="100000"/>
              </a:lnSpc>
            </a:pPr>
            <a:r>
              <a:rPr lang="es-ES" sz="1600" b="1" spc="-1" dirty="0">
                <a:solidFill>
                  <a:schemeClr val="accent2">
                    <a:lumMod val="50000"/>
                  </a:schemeClr>
                </a:solidFill>
              </a:rPr>
              <a:t>  · Análisis variables categóricas</a:t>
            </a:r>
          </a:p>
          <a:p>
            <a:pPr defTabSz="914400">
              <a:lnSpc>
                <a:spcPct val="100000"/>
              </a:lnSpc>
            </a:pPr>
            <a:r>
              <a:rPr lang="es-ES" sz="1600" b="1" spc="-1" dirty="0">
                <a:solidFill>
                  <a:schemeClr val="accent2">
                    <a:lumMod val="50000"/>
                  </a:schemeClr>
                </a:solidFill>
              </a:rPr>
              <a:t>  · Eliminación de </a:t>
            </a:r>
            <a:r>
              <a:rPr lang="es-ES" sz="1600" b="1" spc="-1" dirty="0" err="1">
                <a:solidFill>
                  <a:schemeClr val="accent2">
                    <a:lumMod val="50000"/>
                  </a:schemeClr>
                </a:solidFill>
              </a:rPr>
              <a:t>features</a:t>
            </a:r>
            <a:r>
              <a:rPr lang="es-ES" sz="1600" b="1" spc="-1" dirty="0">
                <a:solidFill>
                  <a:schemeClr val="accent2">
                    <a:lumMod val="50000"/>
                  </a:schemeClr>
                </a:solidFill>
              </a:rPr>
              <a:t> preliminar</a:t>
            </a:r>
          </a:p>
          <a:p>
            <a:pPr defTabSz="914400">
              <a:lnSpc>
                <a:spcPct val="100000"/>
              </a:lnSpc>
            </a:pPr>
            <a:r>
              <a:rPr lang="es-ES" sz="1600" b="1" spc="-1" dirty="0">
                <a:solidFill>
                  <a:schemeClr val="accent2">
                    <a:lumMod val="50000"/>
                  </a:schemeClr>
                </a:solidFill>
              </a:rPr>
              <a:t>  · Duplicados, </a:t>
            </a:r>
            <a:r>
              <a:rPr lang="es-ES" sz="1600" b="1" spc="-1" dirty="0" err="1">
                <a:solidFill>
                  <a:schemeClr val="accent2">
                    <a:lumMod val="50000"/>
                  </a:schemeClr>
                </a:solidFill>
              </a:rPr>
              <a:t>missings</a:t>
            </a:r>
            <a:r>
              <a:rPr lang="es-ES" sz="1600" b="1" spc="-1" dirty="0">
                <a:solidFill>
                  <a:schemeClr val="accent2">
                    <a:lumMod val="50000"/>
                  </a:schemeClr>
                </a:solidFill>
              </a:rPr>
              <a:t> y </a:t>
            </a:r>
            <a:r>
              <a:rPr lang="es-ES" sz="1600" b="1" spc="-1" dirty="0" err="1">
                <a:solidFill>
                  <a:schemeClr val="accent2">
                    <a:lumMod val="50000"/>
                  </a:schemeClr>
                </a:solidFill>
              </a:rPr>
              <a:t>outliers</a:t>
            </a:r>
            <a:endParaRPr lang="es-ES" sz="1600" b="1" spc="-1" dirty="0">
              <a:solidFill>
                <a:schemeClr val="accent2">
                  <a:lumMod val="50000"/>
                </a:schemeClr>
              </a:solidFill>
            </a:endParaRPr>
          </a:p>
          <a:p>
            <a:pPr defTabSz="914400">
              <a:lnSpc>
                <a:spcPct val="100000"/>
              </a:lnSpc>
            </a:pPr>
            <a:r>
              <a:rPr lang="es-ES" sz="1600" b="1" spc="-1" dirty="0">
                <a:solidFill>
                  <a:schemeClr val="accent2">
                    <a:lumMod val="50000"/>
                  </a:schemeClr>
                </a:solidFill>
              </a:rPr>
              <a:t>  · </a:t>
            </a:r>
            <a:r>
              <a:rPr lang="es-ES" sz="1600" b="1" spc="-1" dirty="0" err="1">
                <a:solidFill>
                  <a:schemeClr val="accent2">
                    <a:lumMod val="50000"/>
                  </a:schemeClr>
                </a:solidFill>
              </a:rPr>
              <a:t>Feature</a:t>
            </a:r>
            <a:r>
              <a:rPr lang="es-ES" sz="1600" b="1" spc="-1" dirty="0">
                <a:solidFill>
                  <a:schemeClr val="accent2">
                    <a:lumMod val="50000"/>
                  </a:schemeClr>
                </a:solidFill>
              </a:rPr>
              <a:t> </a:t>
            </a:r>
            <a:r>
              <a:rPr lang="es-ES" sz="1600" b="1" spc="-1" dirty="0" err="1">
                <a:solidFill>
                  <a:schemeClr val="accent2">
                    <a:lumMod val="50000"/>
                  </a:schemeClr>
                </a:solidFill>
              </a:rPr>
              <a:t>Engineering</a:t>
            </a:r>
            <a:endParaRPr lang="es-ES" sz="1600" b="1" spc="-1" dirty="0">
              <a:solidFill>
                <a:schemeClr val="accent2">
                  <a:lumMod val="50000"/>
                </a:schemeClr>
              </a:solidFill>
            </a:endParaRPr>
          </a:p>
        </p:txBody>
      </p:sp>
      <p:sp>
        <p:nvSpPr>
          <p:cNvPr id="58" name="CuadroTexto 11"/>
          <p:cNvSpPr/>
          <p:nvPr/>
        </p:nvSpPr>
        <p:spPr>
          <a:xfrm>
            <a:off x="8143505" y="3570908"/>
            <a:ext cx="3638460"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2000" b="1" spc="-1" dirty="0">
                <a:solidFill>
                  <a:schemeClr val="accent2">
                    <a:lumMod val="50000"/>
                  </a:schemeClr>
                </a:solidFill>
                <a:latin typeface="Calibri"/>
              </a:rPr>
              <a:t>3</a:t>
            </a:r>
            <a:r>
              <a:rPr lang="es-ES" sz="2000" b="1" strike="noStrike" spc="-1" dirty="0">
                <a:solidFill>
                  <a:schemeClr val="accent2">
                    <a:lumMod val="50000"/>
                  </a:schemeClr>
                </a:solidFill>
                <a:latin typeface="Calibri"/>
              </a:rPr>
              <a:t>.  Conclusiones</a:t>
            </a:r>
            <a:endParaRPr lang="es-ES" sz="2000" b="0" strike="noStrike" spc="-1" dirty="0">
              <a:solidFill>
                <a:srgbClr val="000000"/>
              </a:solidFill>
              <a:latin typeface="Arial"/>
            </a:endParaRPr>
          </a:p>
        </p:txBody>
      </p:sp>
      <p:pic>
        <p:nvPicPr>
          <p:cNvPr id="59" name="Imagen 20">
            <a:hlinkClick r:id="rId2" action="ppaction://hlinksldjump"/>
          </p:cNvPr>
          <p:cNvPicPr/>
          <p:nvPr/>
        </p:nvPicPr>
        <p:blipFill>
          <a:blip r:embed="rId3"/>
          <a:stretch/>
        </p:blipFill>
        <p:spPr>
          <a:xfrm>
            <a:off x="1522205" y="2261551"/>
            <a:ext cx="1716120" cy="1155960"/>
          </a:xfrm>
          <a:prstGeom prst="rect">
            <a:avLst/>
          </a:prstGeom>
          <a:ln w="0">
            <a:noFill/>
          </a:ln>
        </p:spPr>
      </p:pic>
      <p:pic>
        <p:nvPicPr>
          <p:cNvPr id="61" name="Imagen 26">
            <a:hlinkClick r:id="rId4" action="ppaction://hlinksldjump"/>
          </p:cNvPr>
          <p:cNvPicPr/>
          <p:nvPr/>
        </p:nvPicPr>
        <p:blipFill>
          <a:blip r:embed="rId5"/>
          <a:stretch/>
        </p:blipFill>
        <p:spPr>
          <a:xfrm>
            <a:off x="9302890" y="2326680"/>
            <a:ext cx="1368360" cy="1102320"/>
          </a:xfrm>
          <a:prstGeom prst="rect">
            <a:avLst/>
          </a:prstGeom>
          <a:ln w="0">
            <a:noFill/>
          </a:ln>
        </p:spPr>
      </p:pic>
      <p:pic>
        <p:nvPicPr>
          <p:cNvPr id="62" name="Imagen 28">
            <a:hlinkClick r:id="rId6" action="ppaction://hlinksldjump"/>
          </p:cNvPr>
          <p:cNvPicPr/>
          <p:nvPr/>
        </p:nvPicPr>
        <p:blipFill>
          <a:blip r:embed="rId7"/>
          <a:stretch/>
        </p:blipFill>
        <p:spPr>
          <a:xfrm>
            <a:off x="5411160" y="2181451"/>
            <a:ext cx="1368360" cy="1316160"/>
          </a:xfrm>
          <a:prstGeom prst="rect">
            <a:avLst/>
          </a:prstGeom>
          <a:ln w="0">
            <a:noFill/>
          </a:ln>
        </p:spPr>
      </p:pic>
      <p:sp>
        <p:nvSpPr>
          <p:cNvPr id="63" name="CuadroTexto 10"/>
          <p:cNvSpPr/>
          <p:nvPr/>
        </p:nvSpPr>
        <p:spPr>
          <a:xfrm>
            <a:off x="4276110" y="3601686"/>
            <a:ext cx="3724890" cy="213759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2000" b="1" spc="-1" dirty="0">
                <a:solidFill>
                  <a:schemeClr val="accent2">
                    <a:lumMod val="50000"/>
                  </a:schemeClr>
                </a:solidFill>
                <a:latin typeface="Calibri"/>
              </a:rPr>
              <a:t>2</a:t>
            </a:r>
            <a:r>
              <a:rPr lang="es-ES" sz="2000" b="1" strike="noStrike" spc="-1" dirty="0">
                <a:solidFill>
                  <a:schemeClr val="accent2">
                    <a:lumMod val="50000"/>
                  </a:schemeClr>
                </a:solidFill>
                <a:latin typeface="Calibri"/>
              </a:rPr>
              <a:t>. Modelado</a:t>
            </a:r>
          </a:p>
          <a:p>
            <a:pPr algn="ctr" defTabSz="914400">
              <a:lnSpc>
                <a:spcPct val="100000"/>
              </a:lnSpc>
            </a:pPr>
            <a:endParaRPr lang="es-ES" sz="1700" b="1" spc="-1" dirty="0">
              <a:solidFill>
                <a:schemeClr val="accent2">
                  <a:lumMod val="50000"/>
                </a:schemeClr>
              </a:solidFill>
              <a:latin typeface="Calibri"/>
            </a:endParaRPr>
          </a:p>
          <a:p>
            <a:pPr defTabSz="914400">
              <a:lnSpc>
                <a:spcPct val="100000"/>
              </a:lnSpc>
            </a:pPr>
            <a:r>
              <a:rPr lang="es-ES" sz="1600" b="1" strike="noStrike" spc="-1" dirty="0">
                <a:solidFill>
                  <a:schemeClr val="accent2">
                    <a:lumMod val="50000"/>
                  </a:schemeClr>
                </a:solidFill>
                <a:latin typeface="Calibri"/>
              </a:rPr>
              <a:t>  · Selección de métricas y Cross </a:t>
            </a:r>
            <a:r>
              <a:rPr lang="es-ES" sz="1600" b="1" strike="noStrike" spc="-1" dirty="0" err="1">
                <a:solidFill>
                  <a:schemeClr val="accent2">
                    <a:lumMod val="50000"/>
                  </a:schemeClr>
                </a:solidFill>
                <a:latin typeface="Calibri"/>
              </a:rPr>
              <a:t>validation</a:t>
            </a:r>
            <a:endParaRPr lang="es-ES" sz="1600" b="1" strike="noStrike" spc="-1" dirty="0">
              <a:solidFill>
                <a:schemeClr val="accent2">
                  <a:lumMod val="50000"/>
                </a:schemeClr>
              </a:solidFill>
              <a:latin typeface="Calibri"/>
            </a:endParaRPr>
          </a:p>
          <a:p>
            <a:pPr defTabSz="914400">
              <a:lnSpc>
                <a:spcPct val="100000"/>
              </a:lnSpc>
            </a:pPr>
            <a:r>
              <a:rPr lang="es-ES" sz="1600" b="1" spc="-1" dirty="0">
                <a:solidFill>
                  <a:schemeClr val="accent2">
                    <a:lumMod val="50000"/>
                  </a:schemeClr>
                </a:solidFill>
                <a:latin typeface="Calibri"/>
              </a:rPr>
              <a:t>  · </a:t>
            </a:r>
            <a:r>
              <a:rPr lang="es-ES" sz="1600" b="1" spc="-1" dirty="0" err="1">
                <a:solidFill>
                  <a:schemeClr val="accent2">
                    <a:lumMod val="50000"/>
                  </a:schemeClr>
                </a:solidFill>
                <a:latin typeface="Calibri"/>
              </a:rPr>
              <a:t>Baselines</a:t>
            </a:r>
            <a:endParaRPr lang="es-ES" sz="1600" b="1" spc="-1" dirty="0">
              <a:solidFill>
                <a:schemeClr val="accent2">
                  <a:lumMod val="50000"/>
                </a:schemeClr>
              </a:solidFill>
              <a:latin typeface="Calibri"/>
            </a:endParaRPr>
          </a:p>
          <a:p>
            <a:pPr defTabSz="914400">
              <a:lnSpc>
                <a:spcPct val="100000"/>
              </a:lnSpc>
            </a:pPr>
            <a:r>
              <a:rPr lang="es-ES" sz="1600" b="1" strike="noStrike" spc="-1" dirty="0">
                <a:solidFill>
                  <a:schemeClr val="accent2">
                    <a:lumMod val="50000"/>
                  </a:schemeClr>
                </a:solidFill>
                <a:latin typeface="Calibri"/>
              </a:rPr>
              <a:t>  · Modelado y resultados</a:t>
            </a:r>
          </a:p>
          <a:p>
            <a:pPr defTabSz="914400">
              <a:lnSpc>
                <a:spcPct val="100000"/>
              </a:lnSpc>
            </a:pPr>
            <a:r>
              <a:rPr lang="es-ES" sz="1600" b="1" spc="-1" dirty="0">
                <a:solidFill>
                  <a:schemeClr val="accent2">
                    <a:lumMod val="50000"/>
                  </a:schemeClr>
                </a:solidFill>
                <a:latin typeface="Calibri"/>
              </a:rPr>
              <a:t>  · Optimización de </a:t>
            </a:r>
            <a:r>
              <a:rPr lang="es-ES" sz="1600" b="1" spc="-1" dirty="0" err="1">
                <a:solidFill>
                  <a:schemeClr val="accent2">
                    <a:lumMod val="50000"/>
                  </a:schemeClr>
                </a:solidFill>
                <a:latin typeface="Calibri"/>
              </a:rPr>
              <a:t>hiperparámetros</a:t>
            </a:r>
            <a:endParaRPr lang="es-ES" sz="1600" b="1" spc="-1" dirty="0">
              <a:solidFill>
                <a:schemeClr val="accent2">
                  <a:lumMod val="50000"/>
                </a:schemeClr>
              </a:solidFill>
              <a:latin typeface="Calibri"/>
            </a:endParaRPr>
          </a:p>
          <a:p>
            <a:pPr defTabSz="914400">
              <a:lnSpc>
                <a:spcPct val="100000"/>
              </a:lnSpc>
            </a:pPr>
            <a:r>
              <a:rPr lang="es-ES" sz="1600" b="1" strike="noStrike" spc="-1" dirty="0">
                <a:solidFill>
                  <a:schemeClr val="accent2">
                    <a:lumMod val="50000"/>
                  </a:schemeClr>
                </a:solidFill>
                <a:latin typeface="Calibri"/>
              </a:rPr>
              <a:t>  · Evaluación final y test</a:t>
            </a:r>
          </a:p>
          <a:p>
            <a:pPr defTabSz="914400">
              <a:lnSpc>
                <a:spcPct val="100000"/>
              </a:lnSpc>
            </a:pPr>
            <a:r>
              <a:rPr lang="es-ES" sz="1600" b="1" spc="-1" dirty="0">
                <a:solidFill>
                  <a:schemeClr val="accent2">
                    <a:lumMod val="50000"/>
                  </a:schemeClr>
                </a:solidFill>
                <a:latin typeface="Calibri"/>
              </a:rPr>
              <a:t>  · Persistencia del modelo</a:t>
            </a:r>
            <a:endParaRPr lang="es-ES" sz="1600" b="1" strike="noStrike" spc="-1" dirty="0">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ectángulo 2"/>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dirty="0">
              <a:solidFill>
                <a:schemeClr val="lt1"/>
              </a:solidFill>
              <a:latin typeface="Calibri"/>
            </a:endParaRPr>
          </a:p>
        </p:txBody>
      </p:sp>
      <p:sp>
        <p:nvSpPr>
          <p:cNvPr id="70" name="CuadroTexto 6"/>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trike="noStrike" spc="-1" dirty="0">
                <a:solidFill>
                  <a:srgbClr val="582808"/>
                </a:solidFill>
                <a:latin typeface="Calibri Light"/>
              </a:rPr>
              <a:t>Análisis de target y su distribución</a:t>
            </a:r>
            <a:endParaRPr lang="es-ES" sz="3000" b="0" strike="noStrike" spc="-1" dirty="0">
              <a:solidFill>
                <a:srgbClr val="000000"/>
              </a:solidFill>
              <a:latin typeface="Arial"/>
            </a:endParaRPr>
          </a:p>
        </p:txBody>
      </p:sp>
      <p:sp>
        <p:nvSpPr>
          <p:cNvPr id="3" name="CuadroTexto 2">
            <a:extLst>
              <a:ext uri="{FF2B5EF4-FFF2-40B4-BE49-F238E27FC236}">
                <a16:creationId xmlns:a16="http://schemas.microsoft.com/office/drawing/2014/main" id="{55E57555-0E29-1849-5539-23A973D3A3FC}"/>
              </a:ext>
            </a:extLst>
          </p:cNvPr>
          <p:cNvSpPr txBox="1"/>
          <p:nvPr/>
        </p:nvSpPr>
        <p:spPr>
          <a:xfrm>
            <a:off x="527760" y="1358900"/>
            <a:ext cx="11537240" cy="2554545"/>
          </a:xfrm>
          <a:prstGeom prst="rect">
            <a:avLst/>
          </a:prstGeom>
          <a:noFill/>
        </p:spPr>
        <p:txBody>
          <a:bodyPr wrap="square" rtlCol="0">
            <a:spAutoFit/>
          </a:bodyPr>
          <a:lstStyle/>
          <a:p>
            <a:pPr algn="just"/>
            <a:r>
              <a:rPr lang="es-ES" sz="1600" dirty="0">
                <a:solidFill>
                  <a:schemeClr val="accent2">
                    <a:lumMod val="50000"/>
                  </a:schemeClr>
                </a:solidFill>
              </a:rPr>
              <a:t>Elegimos </a:t>
            </a:r>
            <a:r>
              <a:rPr lang="es-ES" sz="1600" b="1" dirty="0">
                <a:solidFill>
                  <a:schemeClr val="accent2">
                    <a:lumMod val="50000"/>
                  </a:schemeClr>
                </a:solidFill>
              </a:rPr>
              <a:t>estimated_revenue_l365d </a:t>
            </a:r>
            <a:r>
              <a:rPr lang="es-ES" sz="1600" dirty="0">
                <a:solidFill>
                  <a:schemeClr val="accent2">
                    <a:lumMod val="50000"/>
                  </a:schemeClr>
                </a:solidFill>
              </a:rPr>
              <a:t>como variable objetivo, porque resume el ingreso o beneficio anual estimado que puede generar un anuncio. Con esto, buscamos predecir cuánto dinero produce al año cada propiedad del </a:t>
            </a:r>
            <a:r>
              <a:rPr lang="es-ES" sz="1600" dirty="0" err="1">
                <a:solidFill>
                  <a:schemeClr val="accent2">
                    <a:lumMod val="50000"/>
                  </a:schemeClr>
                </a:solidFill>
              </a:rPr>
              <a:t>dataset</a:t>
            </a:r>
            <a:r>
              <a:rPr lang="es-ES" sz="1600" dirty="0">
                <a:solidFill>
                  <a:schemeClr val="accent2">
                    <a:lumMod val="50000"/>
                  </a:schemeClr>
                </a:solidFill>
              </a:rPr>
              <a:t>, por lo que utilizaremos un </a:t>
            </a:r>
            <a:r>
              <a:rPr lang="es-ES" sz="1600" b="1" dirty="0">
                <a:solidFill>
                  <a:schemeClr val="accent2">
                    <a:lumMod val="50000"/>
                  </a:schemeClr>
                </a:solidFill>
              </a:rPr>
              <a:t>modelo supervisado de regresión.</a:t>
            </a:r>
          </a:p>
          <a:p>
            <a:pPr algn="just"/>
            <a:endParaRPr lang="es-ES" sz="1600" dirty="0">
              <a:solidFill>
                <a:schemeClr val="accent2">
                  <a:lumMod val="50000"/>
                </a:schemeClr>
              </a:solidFill>
            </a:endParaRPr>
          </a:p>
          <a:p>
            <a:pPr algn="just"/>
            <a:r>
              <a:rPr lang="es-ES" sz="1600" dirty="0">
                <a:solidFill>
                  <a:schemeClr val="accent2">
                    <a:lumMod val="50000"/>
                  </a:schemeClr>
                </a:solidFill>
              </a:rPr>
              <a:t>La variable objetivo presenta una distribución fuertemente sesgada a la derecha, con presencia de valores extremos muy elevados. La media es significativamente superior a la mediana, lo que confirma la asimetría. Además, existen valores 0 que deberán analizarse para determinar si corresponden a ausencia de actividad o a posibles errores.</a:t>
            </a:r>
          </a:p>
          <a:p>
            <a:pPr algn="just"/>
            <a:endParaRPr lang="es-ES" sz="1600" dirty="0">
              <a:solidFill>
                <a:schemeClr val="accent2">
                  <a:lumMod val="50000"/>
                </a:schemeClr>
              </a:solidFill>
            </a:endParaRPr>
          </a:p>
          <a:p>
            <a:pPr algn="just"/>
            <a:r>
              <a:rPr lang="es-ES" sz="1600" dirty="0">
                <a:solidFill>
                  <a:schemeClr val="accent2">
                    <a:lumMod val="50000"/>
                  </a:schemeClr>
                </a:solidFill>
              </a:rPr>
              <a:t>Con el fin de reducir la asimetría, hacer la distribución mas "normal" y reducir el impacto de los </a:t>
            </a:r>
            <a:r>
              <a:rPr lang="es-ES" sz="1600" dirty="0" err="1">
                <a:solidFill>
                  <a:schemeClr val="accent2">
                    <a:lumMod val="50000"/>
                  </a:schemeClr>
                </a:solidFill>
              </a:rPr>
              <a:t>outliers</a:t>
            </a:r>
            <a:r>
              <a:rPr lang="es-ES" sz="1600" dirty="0">
                <a:solidFill>
                  <a:schemeClr val="accent2">
                    <a:lumMod val="50000"/>
                  </a:schemeClr>
                </a:solidFill>
              </a:rPr>
              <a:t> vamos a hacer la función logarítmica.</a:t>
            </a:r>
          </a:p>
        </p:txBody>
      </p:sp>
      <p:pic>
        <p:nvPicPr>
          <p:cNvPr id="9" name="Imagen 8" descr="The diagram illustrates an estimated annual revenue distribution, with a range from $0 to $1,500,000, showing frequencies at intervals of $20,000.&#10;&#10;El contenido generado por IA puede ser incorrecto.">
            <a:extLst>
              <a:ext uri="{FF2B5EF4-FFF2-40B4-BE49-F238E27FC236}">
                <a16:creationId xmlns:a16="http://schemas.microsoft.com/office/drawing/2014/main" id="{6261B4F5-5193-D4D4-9949-90B7EDF9DE1B}"/>
              </a:ext>
            </a:extLst>
          </p:cNvPr>
          <p:cNvPicPr>
            <a:picLocks noChangeAspect="1"/>
          </p:cNvPicPr>
          <p:nvPr/>
        </p:nvPicPr>
        <p:blipFill>
          <a:blip r:embed="rId2"/>
          <a:srcRect l="1592" t="2524" r="1760" b="5573"/>
          <a:stretch>
            <a:fillRect/>
          </a:stretch>
        </p:blipFill>
        <p:spPr>
          <a:xfrm>
            <a:off x="2669636" y="4163337"/>
            <a:ext cx="3017244" cy="2285148"/>
          </a:xfrm>
          <a:prstGeom prst="rect">
            <a:avLst/>
          </a:prstGeom>
        </p:spPr>
      </p:pic>
      <p:pic>
        <p:nvPicPr>
          <p:cNvPr id="11" name="Imagen 10" descr="The provided text describes a logarithmic distribution of revenue, with values ranging from 0 to 3000, increasing in increments of 2000.&#10;&#10;El contenido generado por IA puede ser incorrecto.">
            <a:extLst>
              <a:ext uri="{FF2B5EF4-FFF2-40B4-BE49-F238E27FC236}">
                <a16:creationId xmlns:a16="http://schemas.microsoft.com/office/drawing/2014/main" id="{BC79AED8-182A-92FA-E449-C1178660DA92}"/>
              </a:ext>
            </a:extLst>
          </p:cNvPr>
          <p:cNvPicPr>
            <a:picLocks noChangeAspect="1"/>
          </p:cNvPicPr>
          <p:nvPr/>
        </p:nvPicPr>
        <p:blipFill>
          <a:blip r:embed="rId3"/>
          <a:srcRect l="3000" t="1486" r="2334" b="2722"/>
          <a:stretch>
            <a:fillRect/>
          </a:stretch>
        </p:blipFill>
        <p:spPr>
          <a:xfrm>
            <a:off x="6505122" y="4163337"/>
            <a:ext cx="2923343" cy="2285149"/>
          </a:xfrm>
          <a:prstGeom prst="rect">
            <a:avLst/>
          </a:prstGeom>
        </p:spPr>
      </p:pic>
      <p:pic>
        <p:nvPicPr>
          <p:cNvPr id="8" name="Imagen 20">
            <a:hlinkClick r:id="rId4" action="ppaction://hlinksldjump"/>
            <a:extLst>
              <a:ext uri="{FF2B5EF4-FFF2-40B4-BE49-F238E27FC236}">
                <a16:creationId xmlns:a16="http://schemas.microsoft.com/office/drawing/2014/main" id="{390606AA-A51B-42FC-AB34-E0ECCB639BDF}"/>
              </a:ext>
            </a:extLst>
          </p:cNvPr>
          <p:cNvPicPr/>
          <p:nvPr/>
        </p:nvPicPr>
        <p:blipFill>
          <a:blip r:embed="rId5"/>
          <a:stretch/>
        </p:blipFill>
        <p:spPr>
          <a:xfrm>
            <a:off x="10706465" y="347264"/>
            <a:ext cx="1220995" cy="664372"/>
          </a:xfrm>
          <a:prstGeom prst="rect">
            <a:avLst/>
          </a:prstGeom>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A2137-DA47-56A0-8320-B8BFB237899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13A98D50-0E89-5ABA-D0C8-69C5D184F21E}"/>
              </a:ext>
            </a:extLst>
          </p:cNvPr>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0011FD49-7372-4358-527D-C74CEDFEC7DF}"/>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trike="noStrike" spc="-1" dirty="0">
                <a:solidFill>
                  <a:srgbClr val="582808"/>
                </a:solidFill>
                <a:latin typeface="Calibri Light"/>
              </a:rPr>
              <a:t>Análisis de las variables numéricas</a:t>
            </a:r>
            <a:endParaRPr lang="es-ES" sz="3000" b="0" strike="noStrike" spc="-1" dirty="0">
              <a:solidFill>
                <a:srgbClr val="000000"/>
              </a:solidFill>
              <a:latin typeface="Arial"/>
            </a:endParaRPr>
          </a:p>
        </p:txBody>
      </p:sp>
      <p:sp>
        <p:nvSpPr>
          <p:cNvPr id="2" name="CuadroTexto 1">
            <a:extLst>
              <a:ext uri="{FF2B5EF4-FFF2-40B4-BE49-F238E27FC236}">
                <a16:creationId xmlns:a16="http://schemas.microsoft.com/office/drawing/2014/main" id="{F483EA42-63B1-D505-B0D9-15C7AD4183DB}"/>
              </a:ext>
            </a:extLst>
          </p:cNvPr>
          <p:cNvSpPr txBox="1"/>
          <p:nvPr/>
        </p:nvSpPr>
        <p:spPr>
          <a:xfrm>
            <a:off x="527760" y="1565889"/>
            <a:ext cx="11135160" cy="4278094"/>
          </a:xfrm>
          <a:prstGeom prst="rect">
            <a:avLst/>
          </a:prstGeom>
          <a:noFill/>
        </p:spPr>
        <p:txBody>
          <a:bodyPr wrap="square" rtlCol="0">
            <a:spAutoFit/>
          </a:bodyPr>
          <a:lstStyle/>
          <a:p>
            <a:pPr algn="just"/>
            <a:r>
              <a:rPr lang="es-ES" sz="1600" dirty="0">
                <a:solidFill>
                  <a:schemeClr val="accent2">
                    <a:lumMod val="50000"/>
                  </a:schemeClr>
                </a:solidFill>
              </a:rPr>
              <a:t>Durante el análisis univariante se observa que muchas de las variables numéricas presentan una fuerte asimetría, con distribuciones sesgadas hacia la derecha y presencia de valores extremos. Esto sugiere la necesidad de un tratamiento posterior de </a:t>
            </a:r>
            <a:r>
              <a:rPr lang="es-ES" sz="1600" dirty="0" err="1">
                <a:solidFill>
                  <a:schemeClr val="accent2">
                    <a:lumMod val="50000"/>
                  </a:schemeClr>
                </a:solidFill>
              </a:rPr>
              <a:t>outliers</a:t>
            </a:r>
            <a:r>
              <a:rPr lang="es-ES" sz="1600" dirty="0">
                <a:solidFill>
                  <a:schemeClr val="accent2">
                    <a:lumMod val="50000"/>
                  </a:schemeClr>
                </a:solidFill>
              </a:rPr>
              <a:t> y posibles transformaciones.</a:t>
            </a:r>
          </a:p>
          <a:p>
            <a:pPr algn="just"/>
            <a:endParaRPr lang="es-ES" sz="1600" dirty="0">
              <a:solidFill>
                <a:schemeClr val="accent2">
                  <a:lumMod val="50000"/>
                </a:schemeClr>
              </a:solidFill>
            </a:endParaRPr>
          </a:p>
          <a:p>
            <a:pPr algn="just"/>
            <a:r>
              <a:rPr lang="es-ES" sz="1600" dirty="0">
                <a:solidFill>
                  <a:schemeClr val="accent2">
                    <a:lumMod val="50000"/>
                  </a:schemeClr>
                </a:solidFill>
              </a:rPr>
              <a:t>Se identifican variables potencialmente redundantes, especialmente dentro de los bloques de disponibilidad (</a:t>
            </a:r>
            <a:r>
              <a:rPr lang="es-ES" sz="1600" b="1" dirty="0">
                <a:solidFill>
                  <a:schemeClr val="accent2">
                    <a:lumMod val="50000"/>
                  </a:schemeClr>
                </a:solidFill>
              </a:rPr>
              <a:t>availability_30, availability_60, availability_90, availability_365, </a:t>
            </a:r>
            <a:r>
              <a:rPr lang="es-ES" sz="1600" b="1" dirty="0" err="1">
                <a:solidFill>
                  <a:schemeClr val="accent2">
                    <a:lumMod val="50000"/>
                  </a:schemeClr>
                </a:solidFill>
              </a:rPr>
              <a:t>availability_eoy</a:t>
            </a:r>
            <a:r>
              <a:rPr lang="es-ES" sz="1600" dirty="0">
                <a:solidFill>
                  <a:schemeClr val="accent2">
                    <a:lumMod val="50000"/>
                  </a:schemeClr>
                </a:solidFill>
              </a:rPr>
              <a:t>) y de restricciones de estancia (</a:t>
            </a:r>
            <a:r>
              <a:rPr lang="es-ES" sz="1600" b="1" dirty="0" err="1">
                <a:solidFill>
                  <a:schemeClr val="accent2">
                    <a:lumMod val="50000"/>
                  </a:schemeClr>
                </a:solidFill>
              </a:rPr>
              <a:t>minimum_nights</a:t>
            </a:r>
            <a:r>
              <a:rPr lang="es-ES" sz="1600" b="1" dirty="0">
                <a:solidFill>
                  <a:schemeClr val="accent2">
                    <a:lumMod val="50000"/>
                  </a:schemeClr>
                </a:solidFill>
              </a:rPr>
              <a:t>, </a:t>
            </a:r>
            <a:r>
              <a:rPr lang="es-ES" sz="1600" b="1" dirty="0" err="1">
                <a:solidFill>
                  <a:schemeClr val="accent2">
                    <a:lumMod val="50000"/>
                  </a:schemeClr>
                </a:solidFill>
              </a:rPr>
              <a:t>maximum_nights</a:t>
            </a:r>
            <a:r>
              <a:rPr lang="es-ES" sz="1600" b="1" dirty="0">
                <a:solidFill>
                  <a:schemeClr val="accent2">
                    <a:lumMod val="50000"/>
                  </a:schemeClr>
                </a:solidFill>
              </a:rPr>
              <a:t> y sus derivados como </a:t>
            </a:r>
            <a:r>
              <a:rPr lang="es-ES" sz="1600" b="1" dirty="0" err="1">
                <a:solidFill>
                  <a:schemeClr val="accent2">
                    <a:lumMod val="50000"/>
                  </a:schemeClr>
                </a:solidFill>
              </a:rPr>
              <a:t>minimum_minimum_nights</a:t>
            </a:r>
            <a:r>
              <a:rPr lang="es-ES" sz="1600" b="1" dirty="0">
                <a:solidFill>
                  <a:schemeClr val="accent2">
                    <a:lumMod val="50000"/>
                  </a:schemeClr>
                </a:solidFill>
              </a:rPr>
              <a:t>, </a:t>
            </a:r>
            <a:r>
              <a:rPr lang="es-ES" sz="1600" b="1" dirty="0" err="1">
                <a:solidFill>
                  <a:schemeClr val="accent2">
                    <a:lumMod val="50000"/>
                  </a:schemeClr>
                </a:solidFill>
              </a:rPr>
              <a:t>maximum_maximum_nights</a:t>
            </a:r>
            <a:r>
              <a:rPr lang="es-ES" sz="1600" dirty="0">
                <a:solidFill>
                  <a:schemeClr val="accent2">
                    <a:lumMod val="50000"/>
                  </a:schemeClr>
                </a:solidFill>
              </a:rPr>
              <a:t>, etc.). Estas variables miden conceptos muy similares en distintos horizontes temporales o como agregaciones estadísticas, por lo que es esperable que presenten una alta correlación entre sí. Esto puede generar multicolinealidad en modelos lineales, por lo que posteriormente se evaluará la conveniencia de seleccionar únicamente las variables más representativas de cada bloque.</a:t>
            </a:r>
          </a:p>
          <a:p>
            <a:pPr algn="just"/>
            <a:endParaRPr lang="es-ES" sz="1600" dirty="0">
              <a:solidFill>
                <a:schemeClr val="accent2">
                  <a:lumMod val="50000"/>
                </a:schemeClr>
              </a:solidFill>
            </a:endParaRPr>
          </a:p>
          <a:p>
            <a:pPr algn="just"/>
            <a:r>
              <a:rPr lang="es-ES" sz="1600" dirty="0">
                <a:solidFill>
                  <a:schemeClr val="accent2">
                    <a:lumMod val="50000"/>
                  </a:schemeClr>
                </a:solidFill>
              </a:rPr>
              <a:t>Asimismo, se detectan variables que actúan como identificadores (por ejemplo, </a:t>
            </a:r>
            <a:r>
              <a:rPr lang="es-ES" sz="1600" b="1" dirty="0" err="1">
                <a:solidFill>
                  <a:schemeClr val="accent2">
                    <a:lumMod val="50000"/>
                  </a:schemeClr>
                </a:solidFill>
              </a:rPr>
              <a:t>host_id</a:t>
            </a:r>
            <a:r>
              <a:rPr lang="es-ES" sz="1600" dirty="0">
                <a:solidFill>
                  <a:schemeClr val="accent2">
                    <a:lumMod val="50000"/>
                  </a:schemeClr>
                </a:solidFill>
              </a:rPr>
              <a:t>), las cuales no aportan información predictiva real y deben ser eliminadas del modelado.</a:t>
            </a:r>
          </a:p>
          <a:p>
            <a:pPr algn="just"/>
            <a:endParaRPr lang="es-ES" sz="1600" dirty="0">
              <a:solidFill>
                <a:schemeClr val="accent2">
                  <a:lumMod val="50000"/>
                </a:schemeClr>
              </a:solidFill>
            </a:endParaRPr>
          </a:p>
          <a:p>
            <a:pPr algn="just"/>
            <a:r>
              <a:rPr lang="es-ES" sz="1600" dirty="0">
                <a:solidFill>
                  <a:schemeClr val="accent2">
                    <a:lumMod val="50000"/>
                  </a:schemeClr>
                </a:solidFill>
              </a:rPr>
              <a:t>Por último, algunas variables como los </a:t>
            </a:r>
            <a:r>
              <a:rPr lang="es-ES" sz="1600" b="1" dirty="0" err="1">
                <a:solidFill>
                  <a:schemeClr val="accent2">
                    <a:lumMod val="50000"/>
                  </a:schemeClr>
                </a:solidFill>
              </a:rPr>
              <a:t>review_scores</a:t>
            </a:r>
            <a:r>
              <a:rPr lang="es-ES" sz="1600" b="1" dirty="0">
                <a:solidFill>
                  <a:schemeClr val="accent2">
                    <a:lumMod val="50000"/>
                  </a:schemeClr>
                </a:solidFill>
              </a:rPr>
              <a:t> </a:t>
            </a:r>
            <a:r>
              <a:rPr lang="es-ES" sz="1600" dirty="0">
                <a:solidFill>
                  <a:schemeClr val="accent2">
                    <a:lumMod val="50000"/>
                  </a:schemeClr>
                </a:solidFill>
              </a:rPr>
              <a:t>presentan una variabilidad reducida, concentrándose en valores altos (entre 4 y 5), lo que puede limitar su capacidad explicativa. También se detectan valores extremos en varias variables que deberán analizarse y tratarse en etapas posteriores del preprocesamiento.</a:t>
            </a:r>
          </a:p>
        </p:txBody>
      </p:sp>
      <p:pic>
        <p:nvPicPr>
          <p:cNvPr id="6" name="Imagen 20">
            <a:hlinkClick r:id="rId2" action="ppaction://hlinksldjump"/>
            <a:extLst>
              <a:ext uri="{FF2B5EF4-FFF2-40B4-BE49-F238E27FC236}">
                <a16:creationId xmlns:a16="http://schemas.microsoft.com/office/drawing/2014/main" id="{F4485107-CC72-40D6-B810-FAB89194C2F4}"/>
              </a:ext>
            </a:extLst>
          </p:cNvPr>
          <p:cNvPicPr/>
          <p:nvPr/>
        </p:nvPicPr>
        <p:blipFill>
          <a:blip r:embed="rId3"/>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2532235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6C3EF-D420-5269-A2CB-8000055B50C5}"/>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F5958DE6-685F-B9CF-4DF5-4340FB8583DB}"/>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54A245E1-A670-7E93-A9A7-0A72B28A9A31}"/>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pc="-1" dirty="0">
                <a:solidFill>
                  <a:srgbClr val="582808"/>
                </a:solidFill>
                <a:latin typeface="Calibri Light"/>
              </a:rPr>
              <a:t>Correlación entre variables numéricas y target</a:t>
            </a:r>
            <a:endParaRPr lang="es-ES" sz="3000" b="0" strike="noStrike" spc="-1" dirty="0">
              <a:solidFill>
                <a:srgbClr val="000000"/>
              </a:solidFill>
              <a:latin typeface="Arial"/>
            </a:endParaRPr>
          </a:p>
        </p:txBody>
      </p:sp>
      <p:sp>
        <p:nvSpPr>
          <p:cNvPr id="2" name="CuadroTexto 1">
            <a:extLst>
              <a:ext uri="{FF2B5EF4-FFF2-40B4-BE49-F238E27FC236}">
                <a16:creationId xmlns:a16="http://schemas.microsoft.com/office/drawing/2014/main" id="{A7D4B502-4242-156E-8AF9-EDEC9C34F0E8}"/>
              </a:ext>
            </a:extLst>
          </p:cNvPr>
          <p:cNvSpPr txBox="1"/>
          <p:nvPr/>
        </p:nvSpPr>
        <p:spPr>
          <a:xfrm>
            <a:off x="615290" y="1781126"/>
            <a:ext cx="10960100" cy="3416320"/>
          </a:xfrm>
          <a:prstGeom prst="rect">
            <a:avLst/>
          </a:prstGeom>
          <a:noFill/>
        </p:spPr>
        <p:txBody>
          <a:bodyPr wrap="square" rtlCol="0">
            <a:spAutoFit/>
          </a:bodyPr>
          <a:lstStyle/>
          <a:p>
            <a:pPr algn="just"/>
            <a:r>
              <a:rPr lang="es-ES" sz="1600" dirty="0">
                <a:solidFill>
                  <a:schemeClr val="accent2">
                    <a:lumMod val="50000"/>
                  </a:schemeClr>
                </a:solidFill>
              </a:rPr>
              <a:t>Del análisis bivariante se observa que el bloque de variables con mayor relación con la variable objetivo es el compuesto por la ocupación estimada anual (</a:t>
            </a:r>
            <a:r>
              <a:rPr lang="es-ES" sz="1600" b="1" dirty="0">
                <a:solidFill>
                  <a:schemeClr val="accent2">
                    <a:lumMod val="50000"/>
                  </a:schemeClr>
                </a:solidFill>
              </a:rPr>
              <a:t>estimated_occupancy_l365d</a:t>
            </a:r>
            <a:r>
              <a:rPr lang="es-ES" sz="1600" dirty="0">
                <a:solidFill>
                  <a:schemeClr val="accent2">
                    <a:lumMod val="50000"/>
                  </a:schemeClr>
                </a:solidFill>
              </a:rPr>
              <a:t>) y las métricas asociadas al volumen de reseñas (</a:t>
            </a:r>
            <a:r>
              <a:rPr lang="es-ES" sz="1600" b="1" dirty="0" err="1">
                <a:solidFill>
                  <a:schemeClr val="accent2">
                    <a:lumMod val="50000"/>
                  </a:schemeClr>
                </a:solidFill>
              </a:rPr>
              <a:t>number_of_reviews_ltm</a:t>
            </a:r>
            <a:r>
              <a:rPr lang="es-ES" sz="1600" b="1" dirty="0">
                <a:solidFill>
                  <a:schemeClr val="accent2">
                    <a:lumMod val="50000"/>
                  </a:schemeClr>
                </a:solidFill>
              </a:rPr>
              <a:t>, </a:t>
            </a:r>
            <a:r>
              <a:rPr lang="es-ES" sz="1600" b="1" dirty="0" err="1">
                <a:solidFill>
                  <a:schemeClr val="accent2">
                    <a:lumMod val="50000"/>
                  </a:schemeClr>
                </a:solidFill>
              </a:rPr>
              <a:t>number_of_reviews_ly</a:t>
            </a:r>
            <a:r>
              <a:rPr lang="es-ES" sz="1600" b="1" dirty="0">
                <a:solidFill>
                  <a:schemeClr val="accent2">
                    <a:lumMod val="50000"/>
                  </a:schemeClr>
                </a:solidFill>
              </a:rPr>
              <a:t>, number_of_reviews_l30d, </a:t>
            </a:r>
            <a:r>
              <a:rPr lang="es-ES" sz="1600" b="1" dirty="0" err="1">
                <a:solidFill>
                  <a:schemeClr val="accent2">
                    <a:lumMod val="50000"/>
                  </a:schemeClr>
                </a:solidFill>
              </a:rPr>
              <a:t>reviews_per_month</a:t>
            </a:r>
            <a:r>
              <a:rPr lang="es-ES" sz="1600" b="1" dirty="0">
                <a:solidFill>
                  <a:schemeClr val="accent2">
                    <a:lumMod val="50000"/>
                  </a:schemeClr>
                </a:solidFill>
              </a:rPr>
              <a:t>, </a:t>
            </a:r>
            <a:r>
              <a:rPr lang="es-ES" sz="1600" b="1" dirty="0" err="1">
                <a:solidFill>
                  <a:schemeClr val="accent2">
                    <a:lumMod val="50000"/>
                  </a:schemeClr>
                </a:solidFill>
              </a:rPr>
              <a:t>number_of_reviews</a:t>
            </a:r>
            <a:r>
              <a:rPr lang="es-ES" sz="1600" dirty="0">
                <a:solidFill>
                  <a:schemeClr val="accent2">
                    <a:lumMod val="50000"/>
                  </a:schemeClr>
                </a:solidFill>
              </a:rPr>
              <a:t>).</a:t>
            </a:r>
          </a:p>
          <a:p>
            <a:pPr algn="just"/>
            <a:endParaRPr lang="es-ES" sz="1600" dirty="0">
              <a:solidFill>
                <a:schemeClr val="accent2">
                  <a:lumMod val="50000"/>
                </a:schemeClr>
              </a:solidFill>
            </a:endParaRPr>
          </a:p>
          <a:p>
            <a:pPr algn="just"/>
            <a:r>
              <a:rPr lang="es-ES" sz="1600" dirty="0">
                <a:solidFill>
                  <a:schemeClr val="accent2">
                    <a:lumMod val="50000"/>
                  </a:schemeClr>
                </a:solidFill>
              </a:rPr>
              <a:t>Estas variables presentan las correlaciones más elevadas con el </a:t>
            </a:r>
            <a:r>
              <a:rPr lang="es-ES" sz="1600" dirty="0" err="1">
                <a:solidFill>
                  <a:schemeClr val="accent2">
                    <a:lumMod val="50000"/>
                  </a:schemeClr>
                </a:solidFill>
              </a:rPr>
              <a:t>revenue</a:t>
            </a:r>
            <a:r>
              <a:rPr lang="es-ES" sz="1600" dirty="0">
                <a:solidFill>
                  <a:schemeClr val="accent2">
                    <a:lumMod val="50000"/>
                  </a:schemeClr>
                </a:solidFill>
              </a:rPr>
              <a:t> log-transformado, lo que sugiere que la intensidad de uso del alojamiento y su nivel de actividad están fuertemente vinculados con los ingresos generados.</a:t>
            </a:r>
          </a:p>
          <a:p>
            <a:pPr algn="just"/>
            <a:endParaRPr lang="es-ES" sz="1600" dirty="0">
              <a:solidFill>
                <a:schemeClr val="accent2">
                  <a:lumMod val="50000"/>
                </a:schemeClr>
              </a:solidFill>
            </a:endParaRPr>
          </a:p>
          <a:p>
            <a:pPr algn="just"/>
            <a:r>
              <a:rPr lang="es-ES" sz="1600" dirty="0">
                <a:solidFill>
                  <a:schemeClr val="accent2">
                    <a:lumMod val="50000"/>
                  </a:schemeClr>
                </a:solidFill>
              </a:rPr>
              <a:t>Por otro lado, las variables estructurales del alojamiento (como capacidad o características físicas) muestran una correlación moderada, indicando que influyen en el </a:t>
            </a:r>
            <a:r>
              <a:rPr lang="es-ES" sz="1600" dirty="0" err="1">
                <a:solidFill>
                  <a:schemeClr val="accent2">
                    <a:lumMod val="50000"/>
                  </a:schemeClr>
                </a:solidFill>
              </a:rPr>
              <a:t>revenue</a:t>
            </a:r>
            <a:r>
              <a:rPr lang="es-ES" sz="1600" dirty="0">
                <a:solidFill>
                  <a:schemeClr val="accent2">
                    <a:lumMod val="50000"/>
                  </a:schemeClr>
                </a:solidFill>
              </a:rPr>
              <a:t>, aunque en menor medida que las variables de actividad.</a:t>
            </a:r>
          </a:p>
          <a:p>
            <a:pPr algn="just"/>
            <a:endParaRPr lang="es-ES" sz="1600" dirty="0">
              <a:solidFill>
                <a:schemeClr val="accent2">
                  <a:lumMod val="50000"/>
                </a:schemeClr>
              </a:solidFill>
            </a:endParaRPr>
          </a:p>
          <a:p>
            <a:pPr algn="just"/>
            <a:r>
              <a:rPr lang="es-ES" sz="1600" dirty="0">
                <a:solidFill>
                  <a:schemeClr val="accent2">
                    <a:lumMod val="50000"/>
                  </a:schemeClr>
                </a:solidFill>
              </a:rPr>
              <a:t>Finalmente, las variables relacionadas con restricciones de estancia (bloque de “</a:t>
            </a:r>
            <a:r>
              <a:rPr lang="es-ES" sz="1600" b="1" dirty="0" err="1">
                <a:solidFill>
                  <a:schemeClr val="accent2">
                    <a:lumMod val="50000"/>
                  </a:schemeClr>
                </a:solidFill>
              </a:rPr>
              <a:t>nights</a:t>
            </a:r>
            <a:r>
              <a:rPr lang="es-ES" sz="1600" dirty="0">
                <a:solidFill>
                  <a:schemeClr val="accent2">
                    <a:lumMod val="50000"/>
                  </a:schemeClr>
                </a:solidFill>
              </a:rPr>
              <a:t>”) presentan una relación más débil y potencialmente redundante entre sí, por lo que será necesario evaluar su posible reducción para evitar problemas de multicolinealidad en modelos posteriores.</a:t>
            </a:r>
          </a:p>
        </p:txBody>
      </p:sp>
      <p:pic>
        <p:nvPicPr>
          <p:cNvPr id="6" name="Imagen 20">
            <a:hlinkClick r:id="rId2" action="ppaction://hlinksldjump"/>
            <a:extLst>
              <a:ext uri="{FF2B5EF4-FFF2-40B4-BE49-F238E27FC236}">
                <a16:creationId xmlns:a16="http://schemas.microsoft.com/office/drawing/2014/main" id="{73797E09-C69C-467A-A7EF-1AE3739D76A4}"/>
              </a:ext>
            </a:extLst>
          </p:cNvPr>
          <p:cNvPicPr/>
          <p:nvPr/>
        </p:nvPicPr>
        <p:blipFill>
          <a:blip r:embed="rId3"/>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40383278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F946A-EE44-EFC9-C459-D1BDC5C6A8E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B1134DD3-ACD1-5C2B-E094-439C3491740C}"/>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3DEA0B96-4192-4895-6B7C-C25239E9F536}"/>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pc="-1" dirty="0">
                <a:solidFill>
                  <a:srgbClr val="582808"/>
                </a:solidFill>
                <a:latin typeface="Calibri Light"/>
              </a:rPr>
              <a:t>Análisis de las variables categóricas</a:t>
            </a:r>
            <a:endParaRPr lang="es-ES" sz="3000" b="0" strike="noStrike" spc="-1" dirty="0">
              <a:solidFill>
                <a:srgbClr val="000000"/>
              </a:solidFill>
              <a:latin typeface="Arial"/>
            </a:endParaRPr>
          </a:p>
        </p:txBody>
      </p:sp>
      <p:sp>
        <p:nvSpPr>
          <p:cNvPr id="2" name="CuadroTexto 1">
            <a:extLst>
              <a:ext uri="{FF2B5EF4-FFF2-40B4-BE49-F238E27FC236}">
                <a16:creationId xmlns:a16="http://schemas.microsoft.com/office/drawing/2014/main" id="{FA8959A3-34EE-F1A3-CED5-4A2990BCF52E}"/>
              </a:ext>
            </a:extLst>
          </p:cNvPr>
          <p:cNvSpPr txBox="1"/>
          <p:nvPr/>
        </p:nvSpPr>
        <p:spPr>
          <a:xfrm>
            <a:off x="692150" y="1530350"/>
            <a:ext cx="4832350" cy="4524315"/>
          </a:xfrm>
          <a:prstGeom prst="rect">
            <a:avLst/>
          </a:prstGeom>
          <a:noFill/>
        </p:spPr>
        <p:txBody>
          <a:bodyPr wrap="square" rtlCol="0">
            <a:spAutoFit/>
          </a:bodyPr>
          <a:lstStyle/>
          <a:p>
            <a:r>
              <a:rPr lang="es-ES" sz="1600" dirty="0">
                <a:solidFill>
                  <a:schemeClr val="accent2">
                    <a:lumMod val="50000"/>
                  </a:schemeClr>
                </a:solidFill>
              </a:rPr>
              <a:t>Tras el análisis univariante de las variables categóricas, se ha optado por seleccionar únicamente aquellas con baja o moderada cardinalidad y potencial capacidad explicativa respecto a la variable objetivo.</a:t>
            </a:r>
          </a:p>
          <a:p>
            <a:endParaRPr lang="es-ES" sz="1600" dirty="0">
              <a:solidFill>
                <a:schemeClr val="accent2">
                  <a:lumMod val="50000"/>
                </a:schemeClr>
              </a:solidFill>
            </a:endParaRPr>
          </a:p>
          <a:p>
            <a:r>
              <a:rPr lang="es-ES" sz="1600" dirty="0">
                <a:solidFill>
                  <a:schemeClr val="accent2">
                    <a:lumMod val="50000"/>
                  </a:schemeClr>
                </a:solidFill>
              </a:rPr>
              <a:t>Se descartan variables de texto libre, fechas técnicas o identificadores, así como aquellas con excesivo número de categorías que podrían generar un alto número de variables </a:t>
            </a:r>
            <a:r>
              <a:rPr lang="es-ES" sz="1600" dirty="0" err="1">
                <a:solidFill>
                  <a:schemeClr val="accent2">
                    <a:lumMod val="50000"/>
                  </a:schemeClr>
                </a:solidFill>
              </a:rPr>
              <a:t>dummy</a:t>
            </a:r>
            <a:r>
              <a:rPr lang="es-ES" sz="1600" dirty="0">
                <a:solidFill>
                  <a:schemeClr val="accent2">
                    <a:lumMod val="50000"/>
                  </a:schemeClr>
                </a:solidFill>
              </a:rPr>
              <a:t> y aumentar innecesariamente la complejidad del modelo.</a:t>
            </a:r>
          </a:p>
          <a:p>
            <a:endParaRPr lang="es-ES" sz="1600" dirty="0">
              <a:solidFill>
                <a:schemeClr val="accent2">
                  <a:lumMod val="50000"/>
                </a:schemeClr>
              </a:solidFill>
            </a:endParaRPr>
          </a:p>
          <a:p>
            <a:r>
              <a:rPr lang="es-ES" sz="1600" dirty="0">
                <a:solidFill>
                  <a:schemeClr val="accent2">
                    <a:lumMod val="50000"/>
                  </a:schemeClr>
                </a:solidFill>
              </a:rPr>
              <a:t>Las variables seleccionadas presentan una estructura interpretable, categorías bien definidas y relevancia conceptual en el contexto del negocio (tipo de alojamiento, características del anfitrión y disponibilidad), lo que las convierte en candidatas adecuadas para el análisis bivariante y su posible inclusión en modelos predictivos posteriores.</a:t>
            </a:r>
          </a:p>
        </p:txBody>
      </p:sp>
      <p:pic>
        <p:nvPicPr>
          <p:cNvPr id="4" name="Imagen 3" descr="The diagram displays a bar chart comparing various factors influencing revenue, such as room type, instant bookability, host response time, and neighborhood group, with different categories and their respective values.&#10;&#10;El contenido generado por IA puede ser incorrecto.">
            <a:extLst>
              <a:ext uri="{FF2B5EF4-FFF2-40B4-BE49-F238E27FC236}">
                <a16:creationId xmlns:a16="http://schemas.microsoft.com/office/drawing/2014/main" id="{2D928E33-2B71-96D9-EEF5-C8913783E0D6}"/>
              </a:ext>
            </a:extLst>
          </p:cNvPr>
          <p:cNvPicPr>
            <a:picLocks noChangeAspect="1"/>
          </p:cNvPicPr>
          <p:nvPr/>
        </p:nvPicPr>
        <p:blipFill>
          <a:blip r:embed="rId2"/>
          <a:stretch>
            <a:fillRect/>
          </a:stretch>
        </p:blipFill>
        <p:spPr>
          <a:xfrm>
            <a:off x="6215570" y="1530350"/>
            <a:ext cx="5284280" cy="4524315"/>
          </a:xfrm>
          <a:prstGeom prst="rect">
            <a:avLst/>
          </a:prstGeom>
        </p:spPr>
      </p:pic>
      <p:pic>
        <p:nvPicPr>
          <p:cNvPr id="7" name="Imagen 20">
            <a:hlinkClick r:id="rId3" action="ppaction://hlinksldjump"/>
            <a:extLst>
              <a:ext uri="{FF2B5EF4-FFF2-40B4-BE49-F238E27FC236}">
                <a16:creationId xmlns:a16="http://schemas.microsoft.com/office/drawing/2014/main" id="{D1E1C61D-5A00-4393-8420-E224C4398F02}"/>
              </a:ext>
            </a:extLst>
          </p:cNvPr>
          <p:cNvPicPr/>
          <p:nvPr/>
        </p:nvPicPr>
        <p:blipFill>
          <a:blip r:embed="rId4"/>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1996184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21FDC-E1A3-C20C-FE05-4E09458D6C84}"/>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882FE741-6D53-7A1B-6629-94CE2E3711E0}"/>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6D4CB89F-B3BD-0818-2E5A-575B8160EB79}"/>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pc="-1" dirty="0">
                <a:solidFill>
                  <a:srgbClr val="582808"/>
                </a:solidFill>
                <a:latin typeface="Calibri Light"/>
              </a:rPr>
              <a:t>Análisis de las variables categóricas</a:t>
            </a:r>
            <a:endParaRPr lang="es-ES" sz="3000" b="0" strike="noStrike" spc="-1" dirty="0">
              <a:solidFill>
                <a:srgbClr val="000000"/>
              </a:solidFill>
              <a:latin typeface="Arial"/>
            </a:endParaRPr>
          </a:p>
        </p:txBody>
      </p:sp>
      <p:sp>
        <p:nvSpPr>
          <p:cNvPr id="2" name="CuadroTexto 1">
            <a:extLst>
              <a:ext uri="{FF2B5EF4-FFF2-40B4-BE49-F238E27FC236}">
                <a16:creationId xmlns:a16="http://schemas.microsoft.com/office/drawing/2014/main" id="{17558ED0-DF97-F95A-DF44-92C553EC2539}"/>
              </a:ext>
            </a:extLst>
          </p:cNvPr>
          <p:cNvSpPr txBox="1"/>
          <p:nvPr/>
        </p:nvSpPr>
        <p:spPr>
          <a:xfrm>
            <a:off x="692150" y="1588528"/>
            <a:ext cx="10970770" cy="4278094"/>
          </a:xfrm>
          <a:prstGeom prst="rect">
            <a:avLst/>
          </a:prstGeom>
          <a:noFill/>
        </p:spPr>
        <p:txBody>
          <a:bodyPr wrap="square" rtlCol="0">
            <a:spAutoFit/>
          </a:bodyPr>
          <a:lstStyle/>
          <a:p>
            <a:pPr algn="just"/>
            <a:r>
              <a:rPr lang="es-ES" sz="1600" dirty="0">
                <a:solidFill>
                  <a:schemeClr val="accent2">
                    <a:lumMod val="50000"/>
                  </a:schemeClr>
                </a:solidFill>
              </a:rPr>
              <a:t>En el análisis bivariante de variables categóricas se observan diferencias claras en la distribución del </a:t>
            </a:r>
            <a:r>
              <a:rPr lang="es-ES" sz="1600" dirty="0" err="1">
                <a:solidFill>
                  <a:schemeClr val="accent2">
                    <a:lumMod val="50000"/>
                  </a:schemeClr>
                </a:solidFill>
              </a:rPr>
              <a:t>revenue</a:t>
            </a:r>
            <a:r>
              <a:rPr lang="es-ES" sz="1600" dirty="0">
                <a:solidFill>
                  <a:schemeClr val="accent2">
                    <a:lumMod val="50000"/>
                  </a:schemeClr>
                </a:solidFill>
              </a:rPr>
              <a:t> según ciertas categorías.</a:t>
            </a:r>
          </a:p>
          <a:p>
            <a:pPr algn="just"/>
            <a:endParaRPr lang="es-ES" sz="1600" dirty="0">
              <a:solidFill>
                <a:schemeClr val="accent2">
                  <a:lumMod val="50000"/>
                </a:schemeClr>
              </a:solidFill>
            </a:endParaRPr>
          </a:p>
          <a:p>
            <a:pPr algn="just"/>
            <a:r>
              <a:rPr lang="es-ES" sz="1600" dirty="0">
                <a:solidFill>
                  <a:schemeClr val="accent2">
                    <a:lumMod val="50000"/>
                  </a:schemeClr>
                </a:solidFill>
              </a:rPr>
              <a:t>En esta fase se ha realizado un preprocesamiento específico de algunas variables categóricas con el objetivo de prepararlas para el modelado.</a:t>
            </a:r>
          </a:p>
          <a:p>
            <a:pPr algn="just"/>
            <a:endParaRPr lang="es-ES" sz="1600" dirty="0">
              <a:solidFill>
                <a:schemeClr val="accent2">
                  <a:lumMod val="50000"/>
                </a:schemeClr>
              </a:solidFill>
            </a:endParaRPr>
          </a:p>
          <a:p>
            <a:pPr algn="just"/>
            <a:r>
              <a:rPr lang="es-ES" sz="1600" dirty="0">
                <a:solidFill>
                  <a:schemeClr val="accent2">
                    <a:lumMod val="50000"/>
                  </a:schemeClr>
                </a:solidFill>
              </a:rPr>
              <a:t>En primer lugar, la variable </a:t>
            </a:r>
            <a:r>
              <a:rPr lang="es-ES" sz="1600" b="1" dirty="0" err="1">
                <a:solidFill>
                  <a:schemeClr val="accent2">
                    <a:lumMod val="50000"/>
                  </a:schemeClr>
                </a:solidFill>
              </a:rPr>
              <a:t>host_response_time</a:t>
            </a:r>
            <a:r>
              <a:rPr lang="es-ES" sz="1600" dirty="0">
                <a:solidFill>
                  <a:schemeClr val="accent2">
                    <a:lumMod val="50000"/>
                  </a:schemeClr>
                </a:solidFill>
              </a:rPr>
              <a:t>, que posee un orden natural en sus categorías, ha sido transformada en una variable ordinal numérica. Esta codificación permite preservar la jerarquía implícita en el tiempo de respuesta del anfitrión (desde respuestas más rápidas hasta más lentas), facilitando que los modelos puedan capturar mejor su posible relación con el </a:t>
            </a:r>
            <a:r>
              <a:rPr lang="es-ES" sz="1600" dirty="0" err="1">
                <a:solidFill>
                  <a:schemeClr val="accent2">
                    <a:lumMod val="50000"/>
                  </a:schemeClr>
                </a:solidFill>
              </a:rPr>
              <a:t>revenue</a:t>
            </a:r>
            <a:r>
              <a:rPr lang="es-ES" sz="1600" dirty="0">
                <a:solidFill>
                  <a:schemeClr val="accent2">
                    <a:lumMod val="50000"/>
                  </a:schemeClr>
                </a:solidFill>
              </a:rPr>
              <a:t>.</a:t>
            </a:r>
          </a:p>
          <a:p>
            <a:pPr algn="just"/>
            <a:endParaRPr lang="es-ES" sz="1600" dirty="0">
              <a:solidFill>
                <a:schemeClr val="accent2">
                  <a:lumMod val="50000"/>
                </a:schemeClr>
              </a:solidFill>
            </a:endParaRPr>
          </a:p>
          <a:p>
            <a:pPr algn="just"/>
            <a:r>
              <a:rPr lang="es-ES" sz="1600" dirty="0">
                <a:solidFill>
                  <a:schemeClr val="accent2">
                    <a:lumMod val="50000"/>
                  </a:schemeClr>
                </a:solidFill>
              </a:rPr>
              <a:t>Por otro lado, se ha simplificado la variable </a:t>
            </a:r>
            <a:r>
              <a:rPr lang="es-ES" sz="1600" b="1" dirty="0" err="1">
                <a:solidFill>
                  <a:schemeClr val="accent2">
                    <a:lumMod val="50000"/>
                  </a:schemeClr>
                </a:solidFill>
              </a:rPr>
              <a:t>room_type</a:t>
            </a:r>
            <a:r>
              <a:rPr lang="es-ES" sz="1600" dirty="0">
                <a:solidFill>
                  <a:schemeClr val="accent2">
                    <a:lumMod val="50000"/>
                  </a:schemeClr>
                </a:solidFill>
              </a:rPr>
              <a:t>, agrupando las categorías con muy baja representación ("</a:t>
            </a:r>
            <a:r>
              <a:rPr lang="es-ES" sz="1600" dirty="0" err="1">
                <a:solidFill>
                  <a:schemeClr val="accent2">
                    <a:lumMod val="50000"/>
                  </a:schemeClr>
                </a:solidFill>
              </a:rPr>
              <a:t>Shared</a:t>
            </a:r>
            <a:r>
              <a:rPr lang="es-ES" sz="1600" dirty="0">
                <a:solidFill>
                  <a:schemeClr val="accent2">
                    <a:lumMod val="50000"/>
                  </a:schemeClr>
                </a:solidFill>
              </a:rPr>
              <a:t> </a:t>
            </a:r>
            <a:r>
              <a:rPr lang="es-ES" sz="1600" dirty="0" err="1">
                <a:solidFill>
                  <a:schemeClr val="accent2">
                    <a:lumMod val="50000"/>
                  </a:schemeClr>
                </a:solidFill>
              </a:rPr>
              <a:t>room</a:t>
            </a:r>
            <a:r>
              <a:rPr lang="es-ES" sz="1600" dirty="0">
                <a:solidFill>
                  <a:schemeClr val="accent2">
                    <a:lumMod val="50000"/>
                  </a:schemeClr>
                </a:solidFill>
              </a:rPr>
              <a:t>" y "Hotel </a:t>
            </a:r>
            <a:r>
              <a:rPr lang="es-ES" sz="1600" dirty="0" err="1">
                <a:solidFill>
                  <a:schemeClr val="accent2">
                    <a:lumMod val="50000"/>
                  </a:schemeClr>
                </a:solidFill>
              </a:rPr>
              <a:t>room</a:t>
            </a:r>
            <a:r>
              <a:rPr lang="es-ES" sz="1600" dirty="0">
                <a:solidFill>
                  <a:schemeClr val="accent2">
                    <a:lumMod val="50000"/>
                  </a:schemeClr>
                </a:solidFill>
              </a:rPr>
              <a:t>") bajo una nueva categoría común ("</a:t>
            </a:r>
            <a:r>
              <a:rPr lang="es-ES" sz="1600" dirty="0" err="1">
                <a:solidFill>
                  <a:schemeClr val="accent2">
                    <a:lumMod val="50000"/>
                  </a:schemeClr>
                </a:solidFill>
              </a:rPr>
              <a:t>Other</a:t>
            </a:r>
            <a:r>
              <a:rPr lang="es-ES" sz="1600" dirty="0">
                <a:solidFill>
                  <a:schemeClr val="accent2">
                    <a:lumMod val="50000"/>
                  </a:schemeClr>
                </a:solidFill>
              </a:rPr>
              <a:t>"). Esta decisión reduce la dispersión de información y evita que categorías con pocos registros introduzcan ruido en el modelo.</a:t>
            </a:r>
          </a:p>
          <a:p>
            <a:pPr algn="just"/>
            <a:endParaRPr lang="es-ES" sz="1600" dirty="0">
              <a:solidFill>
                <a:schemeClr val="accent2">
                  <a:lumMod val="50000"/>
                </a:schemeClr>
              </a:solidFill>
            </a:endParaRPr>
          </a:p>
          <a:p>
            <a:pPr algn="just"/>
            <a:r>
              <a:rPr lang="es-ES" sz="1600" dirty="0">
                <a:solidFill>
                  <a:schemeClr val="accent2">
                    <a:lumMod val="50000"/>
                  </a:schemeClr>
                </a:solidFill>
              </a:rPr>
              <a:t>Finalmente, en las variables binarias relacionadas con características del anfitrión (</a:t>
            </a:r>
            <a:r>
              <a:rPr lang="es-ES" sz="1600" b="1" dirty="0" err="1">
                <a:solidFill>
                  <a:schemeClr val="accent2">
                    <a:lumMod val="50000"/>
                  </a:schemeClr>
                </a:solidFill>
              </a:rPr>
              <a:t>host_is_superhost</a:t>
            </a:r>
            <a:r>
              <a:rPr lang="es-ES" sz="1600" dirty="0">
                <a:solidFill>
                  <a:schemeClr val="accent2">
                    <a:lumMod val="50000"/>
                  </a:schemeClr>
                </a:solidFill>
              </a:rPr>
              <a:t>, </a:t>
            </a:r>
            <a:r>
              <a:rPr lang="es-ES" sz="1600" b="1" dirty="0" err="1">
                <a:solidFill>
                  <a:schemeClr val="accent2">
                    <a:lumMod val="50000"/>
                  </a:schemeClr>
                </a:solidFill>
              </a:rPr>
              <a:t>host_identity_verified</a:t>
            </a:r>
            <a:r>
              <a:rPr lang="es-ES" sz="1600" dirty="0">
                <a:solidFill>
                  <a:schemeClr val="accent2">
                    <a:lumMod val="50000"/>
                  </a:schemeClr>
                </a:solidFill>
              </a:rPr>
              <a:t>, </a:t>
            </a:r>
            <a:r>
              <a:rPr lang="es-ES" sz="1600" b="1" dirty="0" err="1">
                <a:solidFill>
                  <a:schemeClr val="accent2">
                    <a:lumMod val="50000"/>
                  </a:schemeClr>
                </a:solidFill>
              </a:rPr>
              <a:t>host_has_profile_pic</a:t>
            </a:r>
            <a:r>
              <a:rPr lang="es-ES" sz="1600" b="1" dirty="0">
                <a:solidFill>
                  <a:schemeClr val="accent2">
                    <a:lumMod val="50000"/>
                  </a:schemeClr>
                </a:solidFill>
              </a:rPr>
              <a:t> </a:t>
            </a:r>
            <a:r>
              <a:rPr lang="es-ES" sz="1600" dirty="0">
                <a:solidFill>
                  <a:schemeClr val="accent2">
                    <a:lumMod val="50000"/>
                  </a:schemeClr>
                </a:solidFill>
              </a:rPr>
              <a:t>e </a:t>
            </a:r>
            <a:r>
              <a:rPr lang="es-ES" sz="1600" b="1" dirty="0" err="1">
                <a:solidFill>
                  <a:schemeClr val="accent2">
                    <a:lumMod val="50000"/>
                  </a:schemeClr>
                </a:solidFill>
              </a:rPr>
              <a:t>instant_bookable</a:t>
            </a:r>
            <a:r>
              <a:rPr lang="es-ES" sz="1600" dirty="0">
                <a:solidFill>
                  <a:schemeClr val="accent2">
                    <a:lumMod val="50000"/>
                  </a:schemeClr>
                </a:solidFill>
              </a:rPr>
              <a:t>), se han imputado los valores faltantes con la categoría "</a:t>
            </a:r>
            <a:r>
              <a:rPr lang="es-ES" sz="1600" dirty="0" err="1">
                <a:solidFill>
                  <a:schemeClr val="accent2">
                    <a:lumMod val="50000"/>
                  </a:schemeClr>
                </a:solidFill>
              </a:rPr>
              <a:t>Unknown</a:t>
            </a:r>
            <a:r>
              <a:rPr lang="es-ES" sz="1600" dirty="0">
                <a:solidFill>
                  <a:schemeClr val="accent2">
                    <a:lumMod val="50000"/>
                  </a:schemeClr>
                </a:solidFill>
              </a:rPr>
              <a:t>", evitando la pérdida de observaciones y manteniendo la coherencia categórica para su posterior codificación.</a:t>
            </a:r>
          </a:p>
        </p:txBody>
      </p:sp>
      <p:pic>
        <p:nvPicPr>
          <p:cNvPr id="6" name="Imagen 20">
            <a:hlinkClick r:id="rId2" action="ppaction://hlinksldjump"/>
            <a:extLst>
              <a:ext uri="{FF2B5EF4-FFF2-40B4-BE49-F238E27FC236}">
                <a16:creationId xmlns:a16="http://schemas.microsoft.com/office/drawing/2014/main" id="{ADE4AD4C-53FB-4BA7-BDA3-9AAEB0FD6C7C}"/>
              </a:ext>
            </a:extLst>
          </p:cNvPr>
          <p:cNvPicPr/>
          <p:nvPr/>
        </p:nvPicPr>
        <p:blipFill>
          <a:blip r:embed="rId3"/>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7191950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3029-122E-3C57-4D53-00CB3C92287B}"/>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68FB0694-55AB-8361-D412-5A7370234F36}"/>
              </a:ext>
            </a:extLst>
          </p:cNvPr>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dirty="0">
              <a:solidFill>
                <a:schemeClr val="lt1"/>
              </a:solidFill>
              <a:latin typeface="Calibri"/>
            </a:endParaRPr>
          </a:p>
        </p:txBody>
      </p:sp>
      <p:sp>
        <p:nvSpPr>
          <p:cNvPr id="70" name="CuadroTexto 6">
            <a:extLst>
              <a:ext uri="{FF2B5EF4-FFF2-40B4-BE49-F238E27FC236}">
                <a16:creationId xmlns:a16="http://schemas.microsoft.com/office/drawing/2014/main" id="{5BBF151E-CAE0-EDBD-CB2B-EAA0C3C772BE}"/>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trike="noStrike" spc="-1" dirty="0">
                <a:solidFill>
                  <a:srgbClr val="582808"/>
                </a:solidFill>
                <a:latin typeface="Calibri Light"/>
              </a:rPr>
              <a:t>Eliminación de </a:t>
            </a:r>
            <a:r>
              <a:rPr lang="es-ES" sz="3000" b="1" strike="noStrike" spc="-1" dirty="0" err="1">
                <a:solidFill>
                  <a:srgbClr val="582808"/>
                </a:solidFill>
                <a:latin typeface="Calibri Light"/>
              </a:rPr>
              <a:t>features</a:t>
            </a:r>
            <a:r>
              <a:rPr lang="es-ES" sz="3000" b="1" strike="noStrike" spc="-1" dirty="0">
                <a:solidFill>
                  <a:srgbClr val="582808"/>
                </a:solidFill>
                <a:latin typeface="Calibri Light"/>
              </a:rPr>
              <a:t> preliminar</a:t>
            </a:r>
            <a:endParaRPr lang="es-ES" sz="3000" b="0" strike="noStrike" spc="-1" dirty="0">
              <a:solidFill>
                <a:srgbClr val="000000"/>
              </a:solidFill>
              <a:latin typeface="Arial"/>
            </a:endParaRPr>
          </a:p>
        </p:txBody>
      </p:sp>
      <p:sp>
        <p:nvSpPr>
          <p:cNvPr id="2" name="CuadroTexto 1">
            <a:extLst>
              <a:ext uri="{FF2B5EF4-FFF2-40B4-BE49-F238E27FC236}">
                <a16:creationId xmlns:a16="http://schemas.microsoft.com/office/drawing/2014/main" id="{CE00C4C5-D61D-178D-85B7-812ACE256B4D}"/>
              </a:ext>
            </a:extLst>
          </p:cNvPr>
          <p:cNvSpPr txBox="1"/>
          <p:nvPr/>
        </p:nvSpPr>
        <p:spPr>
          <a:xfrm>
            <a:off x="967885" y="1491156"/>
            <a:ext cx="4647724" cy="4031873"/>
          </a:xfrm>
          <a:prstGeom prst="rect">
            <a:avLst/>
          </a:prstGeom>
          <a:noFill/>
        </p:spPr>
        <p:txBody>
          <a:bodyPr wrap="square" rtlCol="0">
            <a:spAutoFit/>
          </a:bodyPr>
          <a:lstStyle/>
          <a:p>
            <a:pPr algn="just"/>
            <a:r>
              <a:rPr lang="es-ES" sz="1600" dirty="0">
                <a:solidFill>
                  <a:schemeClr val="accent2">
                    <a:lumMod val="50000"/>
                  </a:schemeClr>
                </a:solidFill>
              </a:rPr>
              <a:t>En esta fase se realiza una depuración moderada del conjunto de variables con el objetivo de eliminar información no estructurada y posibles identificadores sin capacidad predictiva, manteniendo, no obstante, aquellas variables potencialmente redundantes que podrían aportar valor en modelos no lineales.</a:t>
            </a:r>
          </a:p>
          <a:p>
            <a:pPr algn="just"/>
            <a:endParaRPr lang="es-ES" sz="1600" dirty="0">
              <a:solidFill>
                <a:schemeClr val="accent2">
                  <a:lumMod val="50000"/>
                </a:schemeClr>
              </a:solidFill>
            </a:endParaRPr>
          </a:p>
          <a:p>
            <a:pPr algn="just"/>
            <a:r>
              <a:rPr lang="es-ES" sz="1600" dirty="0">
                <a:solidFill>
                  <a:schemeClr val="accent2">
                    <a:lumMod val="50000"/>
                  </a:schemeClr>
                </a:solidFill>
              </a:rPr>
              <a:t>Dado que el análisis contempla tanto modelos lineales como modelos basados en árboles, se opta por una estrategia intermedia: reducir variables claramente irrelevantes sin aplicar una eliminación excesivamente restrictiva, permitiendo posteriormente comparar el comportamiento de distintos algoritmos frente a posibles problemas de multicolinealidad.</a:t>
            </a:r>
          </a:p>
        </p:txBody>
      </p:sp>
      <p:pic>
        <p:nvPicPr>
          <p:cNvPr id="4" name="Imagen 3" descr="The text describes a Python code snippet that performs data cleaning on a DataFrame by dropping certain columns related to availability, reviews, and nights based on specified criteria.&#10;&#10;El contenido generado por IA puede ser incorrecto.">
            <a:extLst>
              <a:ext uri="{FF2B5EF4-FFF2-40B4-BE49-F238E27FC236}">
                <a16:creationId xmlns:a16="http://schemas.microsoft.com/office/drawing/2014/main" id="{122DCC7A-0971-D258-A5A2-8BF4E05DA913}"/>
              </a:ext>
            </a:extLst>
          </p:cNvPr>
          <p:cNvPicPr>
            <a:picLocks noChangeAspect="1"/>
          </p:cNvPicPr>
          <p:nvPr/>
        </p:nvPicPr>
        <p:blipFill>
          <a:blip r:embed="rId2"/>
          <a:srcRect l="2384" t="760" r="38563" b="5444"/>
          <a:stretch>
            <a:fillRect/>
          </a:stretch>
        </p:blipFill>
        <p:spPr>
          <a:xfrm>
            <a:off x="6576392" y="1491156"/>
            <a:ext cx="4647724" cy="4561895"/>
          </a:xfrm>
          <a:prstGeom prst="rect">
            <a:avLst/>
          </a:prstGeom>
        </p:spPr>
      </p:pic>
      <p:pic>
        <p:nvPicPr>
          <p:cNvPr id="7" name="Imagen 20">
            <a:hlinkClick r:id="rId3" action="ppaction://hlinksldjump"/>
            <a:extLst>
              <a:ext uri="{FF2B5EF4-FFF2-40B4-BE49-F238E27FC236}">
                <a16:creationId xmlns:a16="http://schemas.microsoft.com/office/drawing/2014/main" id="{E320297C-7EFF-4334-B591-9F41616C18E5}"/>
              </a:ext>
            </a:extLst>
          </p:cNvPr>
          <p:cNvPicPr/>
          <p:nvPr/>
        </p:nvPicPr>
        <p:blipFill>
          <a:blip r:embed="rId4"/>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26372211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C0232-5F3D-7D65-FBCB-28AF706807AC}"/>
            </a:ext>
          </a:extLst>
        </p:cNvPr>
        <p:cNvGrpSpPr/>
        <p:nvPr/>
      </p:nvGrpSpPr>
      <p:grpSpPr>
        <a:xfrm>
          <a:off x="0" y="0"/>
          <a:ext cx="0" cy="0"/>
          <a:chOff x="0" y="0"/>
          <a:chExt cx="0" cy="0"/>
        </a:xfrm>
      </p:grpSpPr>
      <p:sp>
        <p:nvSpPr>
          <p:cNvPr id="69" name="Rectángulo 2">
            <a:extLst>
              <a:ext uri="{FF2B5EF4-FFF2-40B4-BE49-F238E27FC236}">
                <a16:creationId xmlns:a16="http://schemas.microsoft.com/office/drawing/2014/main" id="{8BEF87F7-FE0F-4530-7847-A553D4F255B9}"/>
              </a:ext>
            </a:extLst>
          </p:cNvPr>
          <p:cNvSpPr/>
          <p:nvPr/>
        </p:nvSpPr>
        <p:spPr>
          <a:xfrm>
            <a:off x="-180" y="10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s-ES" sz="1800" b="0" strike="noStrike" spc="-1">
              <a:solidFill>
                <a:schemeClr val="lt1"/>
              </a:solidFill>
              <a:latin typeface="Calibri"/>
            </a:endParaRPr>
          </a:p>
        </p:txBody>
      </p:sp>
      <p:sp>
        <p:nvSpPr>
          <p:cNvPr id="70" name="CuadroTexto 6">
            <a:extLst>
              <a:ext uri="{FF2B5EF4-FFF2-40B4-BE49-F238E27FC236}">
                <a16:creationId xmlns:a16="http://schemas.microsoft.com/office/drawing/2014/main" id="{AEBB16D7-5240-D6FE-BFD2-7A7A553F6F63}"/>
              </a:ext>
            </a:extLst>
          </p:cNvPr>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EDA – </a:t>
            </a:r>
            <a:r>
              <a:rPr lang="es-ES" sz="3000" b="1" strike="noStrike" spc="-1" dirty="0">
                <a:solidFill>
                  <a:srgbClr val="582808"/>
                </a:solidFill>
                <a:latin typeface="Calibri Light"/>
              </a:rPr>
              <a:t>Duplicados, </a:t>
            </a:r>
            <a:r>
              <a:rPr lang="es-ES" sz="3000" b="1" strike="noStrike" spc="-1" dirty="0" err="1">
                <a:solidFill>
                  <a:srgbClr val="582808"/>
                </a:solidFill>
                <a:latin typeface="Calibri Light"/>
              </a:rPr>
              <a:t>missings</a:t>
            </a:r>
            <a:r>
              <a:rPr lang="es-ES" sz="3000" b="1" strike="noStrike" spc="-1" dirty="0">
                <a:solidFill>
                  <a:srgbClr val="582808"/>
                </a:solidFill>
                <a:latin typeface="Calibri Light"/>
              </a:rPr>
              <a:t> y </a:t>
            </a:r>
            <a:r>
              <a:rPr lang="es-ES" sz="3000" b="1" strike="noStrike" spc="-1" dirty="0" err="1">
                <a:solidFill>
                  <a:srgbClr val="582808"/>
                </a:solidFill>
                <a:latin typeface="Calibri Light"/>
              </a:rPr>
              <a:t>outliers</a:t>
            </a:r>
            <a:endParaRPr lang="es-ES" sz="3000" b="0" strike="noStrike" spc="-1" dirty="0">
              <a:solidFill>
                <a:srgbClr val="000000"/>
              </a:solidFill>
              <a:latin typeface="Arial"/>
            </a:endParaRPr>
          </a:p>
        </p:txBody>
      </p:sp>
      <p:sp>
        <p:nvSpPr>
          <p:cNvPr id="71" name="CuadroTexto 13">
            <a:extLst>
              <a:ext uri="{FF2B5EF4-FFF2-40B4-BE49-F238E27FC236}">
                <a16:creationId xmlns:a16="http://schemas.microsoft.com/office/drawing/2014/main" id="{6F1FCC3A-323B-56EB-6F96-FA9263734877}"/>
              </a:ext>
            </a:extLst>
          </p:cNvPr>
          <p:cNvSpPr/>
          <p:nvPr/>
        </p:nvSpPr>
        <p:spPr>
          <a:xfrm>
            <a:off x="716400" y="1961880"/>
            <a:ext cx="10946520" cy="35379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Al partir de tres </a:t>
            </a:r>
            <a:r>
              <a:rPr lang="es-ES" sz="1600" b="0" strike="noStrike" spc="-1" dirty="0" err="1">
                <a:solidFill>
                  <a:srgbClr val="582808"/>
                </a:solidFill>
                <a:latin typeface="Calibri"/>
              </a:rPr>
              <a:t>subdatasets</a:t>
            </a:r>
            <a:r>
              <a:rPr lang="es-ES" sz="1600" b="0" strike="noStrike" spc="-1" dirty="0">
                <a:solidFill>
                  <a:srgbClr val="582808"/>
                </a:solidFill>
                <a:latin typeface="Calibri"/>
              </a:rPr>
              <a:t> que unificamos en el </a:t>
            </a:r>
            <a:r>
              <a:rPr lang="es-ES" sz="1600" b="0" strike="noStrike" spc="-1" dirty="0" err="1">
                <a:solidFill>
                  <a:srgbClr val="582808"/>
                </a:solidFill>
                <a:latin typeface="Calibri"/>
              </a:rPr>
              <a:t>dataset</a:t>
            </a:r>
            <a:r>
              <a:rPr lang="es-ES" sz="1600" b="0" strike="noStrike" spc="-1" dirty="0">
                <a:solidFill>
                  <a:srgbClr val="582808"/>
                </a:solidFill>
                <a:latin typeface="Calibri"/>
              </a:rPr>
              <a:t> definitivo de partida, la mayoría de duplicados ya los eliminamos previamente localizando coincidencias por id. Por lo que en este punto, teníamos un número reducido de duplicados en nuestro </a:t>
            </a:r>
            <a:r>
              <a:rPr lang="es-ES" sz="1600" b="0" strike="noStrike" spc="-1" dirty="0" err="1">
                <a:solidFill>
                  <a:srgbClr val="582808"/>
                </a:solidFill>
                <a:latin typeface="Calibri"/>
              </a:rPr>
              <a:t>dataframe</a:t>
            </a:r>
            <a:r>
              <a:rPr lang="es-ES" sz="1600" b="0" strike="noStrike" spc="-1" dirty="0">
                <a:solidFill>
                  <a:srgbClr val="582808"/>
                </a:solidFill>
                <a:latin typeface="Calibri"/>
              </a:rPr>
              <a:t> que eliminamos.</a:t>
            </a:r>
            <a:endParaRPr lang="es-ES" sz="1600" b="0" strike="noStrike" spc="-1" dirty="0">
              <a:solidFill>
                <a:srgbClr val="000000"/>
              </a:solidFill>
              <a:latin typeface="Arial"/>
            </a:endParaRPr>
          </a:p>
          <a:p>
            <a:pPr marL="216000" indent="-216000" algn="just" defTabSz="914400">
              <a:lnSpc>
                <a:spcPct val="100000"/>
              </a:lnSpc>
              <a:buClr>
                <a:srgbClr val="582808"/>
              </a:buClr>
              <a:buFont typeface="Wingdings" charset="2"/>
              <a:buChar char=""/>
            </a:pPr>
            <a:endParaRPr lang="es-ES" sz="1600" b="0" strike="noStrike" spc="-1" dirty="0">
              <a:solidFill>
                <a:srgbClr val="000000"/>
              </a:solidFill>
              <a:latin typeface="Arial"/>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Continuamos con el tratamiento de nulos o </a:t>
            </a:r>
            <a:r>
              <a:rPr lang="es-ES" sz="1600" b="0" strike="noStrike" spc="-1" dirty="0" err="1">
                <a:solidFill>
                  <a:srgbClr val="582808"/>
                </a:solidFill>
                <a:latin typeface="Calibri"/>
              </a:rPr>
              <a:t>missings</a:t>
            </a:r>
            <a:r>
              <a:rPr lang="es-ES" sz="1600" b="0" strike="noStrike" spc="-1" dirty="0">
                <a:solidFill>
                  <a:srgbClr val="582808"/>
                </a:solidFill>
                <a:latin typeface="Calibri"/>
              </a:rPr>
              <a:t>, valorando para cada </a:t>
            </a:r>
            <a:r>
              <a:rPr lang="es-ES" sz="1600" b="0" strike="noStrike" spc="-1" dirty="0" err="1">
                <a:solidFill>
                  <a:srgbClr val="582808"/>
                </a:solidFill>
                <a:latin typeface="Calibri"/>
              </a:rPr>
              <a:t>feature</a:t>
            </a:r>
            <a:r>
              <a:rPr lang="es-ES" sz="1600" b="0" strike="noStrike" spc="-1" dirty="0">
                <a:solidFill>
                  <a:srgbClr val="582808"/>
                </a:solidFill>
                <a:latin typeface="Calibri"/>
              </a:rPr>
              <a:t> la solución más acorde en función del porcentaje de nulos y el tipo de la columna.</a:t>
            </a:r>
            <a:br>
              <a:rPr sz="1600" dirty="0"/>
            </a:br>
            <a:r>
              <a:rPr lang="es-ES" sz="1600" b="0" strike="noStrike" spc="-1" dirty="0">
                <a:solidFill>
                  <a:srgbClr val="582808"/>
                </a:solidFill>
                <a:latin typeface="Calibri"/>
              </a:rPr>
              <a:t>Aplicamos tratamientos que van desde la eliminación de una </a:t>
            </a:r>
            <a:r>
              <a:rPr lang="es-ES" sz="1600" b="0" strike="noStrike" spc="-1" dirty="0" err="1">
                <a:solidFill>
                  <a:srgbClr val="582808"/>
                </a:solidFill>
                <a:latin typeface="Calibri"/>
              </a:rPr>
              <a:t>feature</a:t>
            </a:r>
            <a:r>
              <a:rPr lang="es-ES" sz="1600" b="0" strike="noStrike" spc="-1" dirty="0">
                <a:solidFill>
                  <a:srgbClr val="582808"/>
                </a:solidFill>
                <a:latin typeface="Calibri"/>
              </a:rPr>
              <a:t> completa al presentar un porcentaje muy elevado de </a:t>
            </a:r>
            <a:r>
              <a:rPr lang="es-ES" sz="1600" b="0" strike="noStrike" spc="-1" dirty="0" err="1">
                <a:solidFill>
                  <a:srgbClr val="582808"/>
                </a:solidFill>
                <a:latin typeface="Calibri"/>
              </a:rPr>
              <a:t>missings</a:t>
            </a:r>
            <a:r>
              <a:rPr lang="es-ES" sz="1600" b="0" strike="noStrike" spc="-1" dirty="0">
                <a:solidFill>
                  <a:srgbClr val="582808"/>
                </a:solidFill>
                <a:latin typeface="Calibri"/>
              </a:rPr>
              <a:t> y ser de poca relevancia para el objetivo, hasta imputación de medianas, modas, mapeo de datos en función de clasificación de los valores e imputación de 0 u otros valores según la distribución de cada </a:t>
            </a:r>
            <a:r>
              <a:rPr lang="es-ES" sz="1600" b="0" strike="noStrike" spc="-1" dirty="0" err="1">
                <a:solidFill>
                  <a:srgbClr val="582808"/>
                </a:solidFill>
                <a:latin typeface="Calibri"/>
              </a:rPr>
              <a:t>feature</a:t>
            </a:r>
            <a:r>
              <a:rPr lang="es-ES" sz="1600" b="0" strike="noStrike" spc="-1" dirty="0">
                <a:solidFill>
                  <a:srgbClr val="582808"/>
                </a:solidFill>
                <a:latin typeface="Calibri"/>
              </a:rPr>
              <a:t>.</a:t>
            </a:r>
            <a:br>
              <a:rPr sz="1600" dirty="0"/>
            </a:br>
            <a:r>
              <a:rPr lang="es-ES" sz="1600" b="0" strike="noStrike" spc="-1" dirty="0">
                <a:solidFill>
                  <a:srgbClr val="582808"/>
                </a:solidFill>
                <a:latin typeface="Calibri"/>
              </a:rPr>
              <a:t> </a:t>
            </a:r>
            <a:endParaRPr lang="es-ES" sz="1600" b="0" strike="noStrike" spc="-1" dirty="0">
              <a:solidFill>
                <a:srgbClr val="000000"/>
              </a:solidFill>
              <a:latin typeface="Arial"/>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Por último, para concluir con esta evaluación preliminar de features, detectamos los posibles </a:t>
            </a:r>
            <a:r>
              <a:rPr lang="es-ES" sz="1600" b="0" strike="noStrike" spc="-1" dirty="0" err="1">
                <a:solidFill>
                  <a:srgbClr val="582808"/>
                </a:solidFill>
                <a:latin typeface="Calibri"/>
              </a:rPr>
              <a:t>outliers</a:t>
            </a:r>
            <a:r>
              <a:rPr lang="es-ES" sz="1600" b="0" strike="noStrike" spc="-1" dirty="0">
                <a:solidFill>
                  <a:srgbClr val="582808"/>
                </a:solidFill>
                <a:latin typeface="Calibri"/>
              </a:rPr>
              <a:t>.</a:t>
            </a:r>
            <a:br>
              <a:rPr sz="1600" dirty="0"/>
            </a:br>
            <a:r>
              <a:rPr lang="es-ES" sz="1600" b="0" strike="noStrike" spc="-1" dirty="0">
                <a:solidFill>
                  <a:srgbClr val="582808"/>
                </a:solidFill>
                <a:latin typeface="Calibri"/>
              </a:rPr>
              <a:t>En nuestro caso visualizamos los percentiles extremos 1% y 99% para comparar con los valores mínimos y máximos.</a:t>
            </a:r>
            <a:br>
              <a:rPr sz="1600" dirty="0"/>
            </a:br>
            <a:r>
              <a:rPr lang="es-ES" sz="1600" b="0" strike="noStrike" spc="-1" dirty="0">
                <a:solidFill>
                  <a:srgbClr val="582808"/>
                </a:solidFill>
                <a:latin typeface="Calibri"/>
              </a:rPr>
              <a:t>Con esta visualización, igualamos los máximos al valor del percentil 99% de alguna </a:t>
            </a:r>
            <a:r>
              <a:rPr lang="es-ES" sz="1600" b="0" strike="noStrike" spc="-1" dirty="0" err="1">
                <a:solidFill>
                  <a:srgbClr val="582808"/>
                </a:solidFill>
                <a:latin typeface="Calibri"/>
              </a:rPr>
              <a:t>feature</a:t>
            </a:r>
            <a:r>
              <a:rPr lang="es-ES" sz="1600" b="0" strike="noStrike" spc="-1" dirty="0">
                <a:solidFill>
                  <a:srgbClr val="582808"/>
                </a:solidFill>
                <a:latin typeface="Calibri"/>
              </a:rPr>
              <a:t> que carecía de sentido ese valor máximo.</a:t>
            </a:r>
            <a:endParaRPr lang="es-ES" sz="1600" b="0" strike="noStrike" spc="-1" dirty="0">
              <a:solidFill>
                <a:srgbClr val="000000"/>
              </a:solidFill>
              <a:latin typeface="Arial"/>
            </a:endParaRPr>
          </a:p>
        </p:txBody>
      </p:sp>
      <p:pic>
        <p:nvPicPr>
          <p:cNvPr id="6" name="Imagen 20">
            <a:hlinkClick r:id="rId2" action="ppaction://hlinksldjump"/>
            <a:extLst>
              <a:ext uri="{FF2B5EF4-FFF2-40B4-BE49-F238E27FC236}">
                <a16:creationId xmlns:a16="http://schemas.microsoft.com/office/drawing/2014/main" id="{2E8A3BE8-68B9-474E-9C4A-24ADC6DF38E3}"/>
              </a:ext>
            </a:extLst>
          </p:cNvPr>
          <p:cNvPicPr/>
          <p:nvPr/>
        </p:nvPicPr>
        <p:blipFill>
          <a:blip r:embed="rId3"/>
          <a:stretch/>
        </p:blipFill>
        <p:spPr>
          <a:xfrm>
            <a:off x="10706465" y="347264"/>
            <a:ext cx="1220995" cy="664372"/>
          </a:xfrm>
          <a:prstGeom prst="rect">
            <a:avLst/>
          </a:prstGeom>
          <a:ln w="0">
            <a:noFill/>
          </a:ln>
        </p:spPr>
      </p:pic>
    </p:spTree>
    <p:extLst>
      <p:ext uri="{BB962C8B-B14F-4D97-AF65-F5344CB8AC3E}">
        <p14:creationId xmlns:p14="http://schemas.microsoft.com/office/powerpoint/2010/main" val="42207502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Rectángulo 3"/>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just"/>
            <a:endParaRPr lang="es-ES" sz="1800" b="0" strike="noStrike" spc="-1" dirty="0">
              <a:solidFill>
                <a:schemeClr val="lt1"/>
              </a:solidFill>
              <a:latin typeface="Calibri"/>
            </a:endParaRPr>
          </a:p>
        </p:txBody>
      </p:sp>
      <p:sp>
        <p:nvSpPr>
          <p:cNvPr id="74" name="CuadroTexto 15"/>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ea typeface="Microsoft YaHei"/>
              </a:rPr>
              <a:t>EDA – </a:t>
            </a:r>
            <a:r>
              <a:rPr lang="es-ES" sz="3000" b="1" strike="noStrike" spc="-1" dirty="0" err="1">
                <a:solidFill>
                  <a:srgbClr val="582808"/>
                </a:solidFill>
                <a:latin typeface="Calibri Light"/>
                <a:ea typeface="Microsoft YaHei"/>
              </a:rPr>
              <a:t>Feature</a:t>
            </a:r>
            <a:r>
              <a:rPr lang="es-ES" sz="3000" b="1" strike="noStrike" spc="-1" dirty="0">
                <a:solidFill>
                  <a:srgbClr val="582808"/>
                </a:solidFill>
                <a:latin typeface="Calibri Light"/>
                <a:ea typeface="Microsoft YaHei"/>
              </a:rPr>
              <a:t> </a:t>
            </a:r>
            <a:r>
              <a:rPr lang="es-ES" sz="3000" b="1" strike="noStrike" spc="-1" dirty="0" err="1">
                <a:solidFill>
                  <a:srgbClr val="582808"/>
                </a:solidFill>
                <a:latin typeface="Calibri Light"/>
                <a:ea typeface="Microsoft YaHei"/>
              </a:rPr>
              <a:t>engineering</a:t>
            </a:r>
            <a:endParaRPr lang="es-ES" sz="3000" b="0" strike="noStrike" spc="-1" dirty="0">
              <a:solidFill>
                <a:srgbClr val="000000"/>
              </a:solidFill>
              <a:latin typeface="Arial"/>
            </a:endParaRPr>
          </a:p>
        </p:txBody>
      </p:sp>
      <p:sp>
        <p:nvSpPr>
          <p:cNvPr id="75" name="CuadroTexto 16"/>
          <p:cNvSpPr/>
          <p:nvPr/>
        </p:nvSpPr>
        <p:spPr>
          <a:xfrm>
            <a:off x="716400" y="1582200"/>
            <a:ext cx="109465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600" b="0" strike="noStrike" spc="-1" dirty="0">
                <a:solidFill>
                  <a:srgbClr val="582808"/>
                </a:solidFill>
                <a:latin typeface="Calibri"/>
              </a:rPr>
              <a:t>Dado el objetivo de nuestro modelo de Machine </a:t>
            </a:r>
            <a:r>
              <a:rPr lang="es-ES" sz="1600" b="0" strike="noStrike" spc="-1" dirty="0" err="1">
                <a:solidFill>
                  <a:srgbClr val="582808"/>
                </a:solidFill>
                <a:latin typeface="Calibri"/>
              </a:rPr>
              <a:t>Learning</a:t>
            </a:r>
            <a:r>
              <a:rPr lang="es-ES" sz="1600" b="0" strike="noStrike" spc="-1" dirty="0">
                <a:solidFill>
                  <a:srgbClr val="582808"/>
                </a:solidFill>
                <a:latin typeface="Calibri"/>
              </a:rPr>
              <a:t>, teníamos que tratar las </a:t>
            </a:r>
            <a:r>
              <a:rPr lang="es-ES" sz="1600" b="0" strike="noStrike" spc="-1" dirty="0" err="1">
                <a:solidFill>
                  <a:srgbClr val="582808"/>
                </a:solidFill>
                <a:latin typeface="Calibri"/>
              </a:rPr>
              <a:t>features</a:t>
            </a:r>
            <a:r>
              <a:rPr lang="es-ES" sz="1600" b="0" strike="noStrike" spc="-1" dirty="0">
                <a:solidFill>
                  <a:srgbClr val="582808"/>
                </a:solidFill>
                <a:latin typeface="Calibri"/>
              </a:rPr>
              <a:t> categóricas en numéricas, de forma que pudiésemos dotarlas de sentido y significado para el entrenamiento del modelo.</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Por ello, tratamos individualmente cada columna categórica y fuimos aplicando el </a:t>
            </a:r>
            <a:r>
              <a:rPr lang="es-ES" sz="1600" b="0" strike="noStrike" spc="-1" dirty="0" err="1">
                <a:solidFill>
                  <a:srgbClr val="582808"/>
                </a:solidFill>
                <a:latin typeface="Calibri"/>
              </a:rPr>
              <a:t>encoding</a:t>
            </a:r>
            <a:r>
              <a:rPr lang="es-ES" sz="1600" b="0" strike="noStrike" spc="-1" dirty="0">
                <a:solidFill>
                  <a:srgbClr val="582808"/>
                </a:solidFill>
                <a:latin typeface="Calibri"/>
              </a:rPr>
              <a:t> más acorde en función de su cardinalidad.</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Algunas </a:t>
            </a:r>
            <a:r>
              <a:rPr lang="es-ES" sz="1600" b="0" strike="noStrike" spc="-1" dirty="0" err="1">
                <a:solidFill>
                  <a:srgbClr val="582808"/>
                </a:solidFill>
                <a:latin typeface="Calibri"/>
              </a:rPr>
              <a:t>features</a:t>
            </a:r>
            <a:r>
              <a:rPr lang="es-ES" sz="1600" b="0" strike="noStrike" spc="-1" dirty="0">
                <a:solidFill>
                  <a:srgbClr val="582808"/>
                </a:solidFill>
                <a:latin typeface="Calibri"/>
              </a:rPr>
              <a:t> con pocos valores únicos era fácilmente transformables en binarias o aplicándoles </a:t>
            </a:r>
            <a:r>
              <a:rPr lang="es-ES" sz="1600" b="0" strike="noStrike" spc="-1" dirty="0" err="1">
                <a:solidFill>
                  <a:srgbClr val="582808"/>
                </a:solidFill>
                <a:latin typeface="Calibri"/>
              </a:rPr>
              <a:t>one-hot-encoding</a:t>
            </a:r>
            <a:r>
              <a:rPr lang="es-ES" sz="1600" b="0" strike="noStrike" spc="-1" dirty="0">
                <a:solidFill>
                  <a:srgbClr val="582808"/>
                </a:solidFill>
                <a:latin typeface="Calibri"/>
              </a:rPr>
              <a:t> para la generación de estas columnas binarias-numéricas y alguna variable susceptible de mapeo de datos para su conversión en numérica.</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En el caso de otras </a:t>
            </a:r>
            <a:r>
              <a:rPr lang="es-ES" sz="1600" b="0" strike="noStrike" spc="-1" dirty="0" err="1">
                <a:solidFill>
                  <a:srgbClr val="582808"/>
                </a:solidFill>
                <a:latin typeface="Calibri"/>
              </a:rPr>
              <a:t>features</a:t>
            </a:r>
            <a:r>
              <a:rPr lang="es-ES" sz="1600" b="0" strike="noStrike" spc="-1" dirty="0">
                <a:solidFill>
                  <a:srgbClr val="582808"/>
                </a:solidFill>
                <a:latin typeface="Calibri"/>
              </a:rPr>
              <a:t> de tipo texto, extrajimos parte numérica que podía tener sentido para el modelo y también tratamos la parte de texto generando una columna binaria si por ejemplo la fila del </a:t>
            </a:r>
            <a:r>
              <a:rPr lang="es-ES" sz="1600" b="0" strike="noStrike" spc="-1" dirty="0" err="1">
                <a:solidFill>
                  <a:srgbClr val="582808"/>
                </a:solidFill>
                <a:latin typeface="Calibri"/>
              </a:rPr>
              <a:t>dataset</a:t>
            </a:r>
            <a:r>
              <a:rPr lang="es-ES" sz="1600" b="0" strike="noStrike" spc="-1" dirty="0">
                <a:solidFill>
                  <a:srgbClr val="582808"/>
                </a:solidFill>
                <a:latin typeface="Calibri"/>
              </a:rPr>
              <a:t> tenía una característica o no.</a:t>
            </a:r>
            <a:endParaRPr lang="es-ES" sz="1600" b="0" strike="noStrike" spc="-1" dirty="0">
              <a:solidFill>
                <a:srgbClr val="000000"/>
              </a:solidFill>
              <a:latin typeface="Arial"/>
            </a:endParaRPr>
          </a:p>
          <a:p>
            <a:pPr defTabSz="914400">
              <a:lnSpc>
                <a:spcPct val="100000"/>
              </a:lnSpc>
            </a:pP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Con todo ello, fuimos transformando las categóricas en numéricas, aportando valor a las </a:t>
            </a:r>
            <a:r>
              <a:rPr lang="es-ES" sz="1600" b="0" strike="noStrike" spc="-1" dirty="0" err="1">
                <a:solidFill>
                  <a:srgbClr val="582808"/>
                </a:solidFill>
                <a:latin typeface="Calibri"/>
              </a:rPr>
              <a:t>features</a:t>
            </a:r>
            <a:r>
              <a:rPr lang="es-ES" sz="1600" b="0" strike="noStrike" spc="-1" dirty="0">
                <a:solidFill>
                  <a:srgbClr val="582808"/>
                </a:solidFill>
                <a:latin typeface="Calibri"/>
              </a:rPr>
              <a:t> para mejorar el aprendizaje del modelo.</a:t>
            </a:r>
            <a:endParaRPr lang="es-ES" sz="1600" b="0" strike="noStrike" spc="-1" dirty="0">
              <a:solidFill>
                <a:srgbClr val="000000"/>
              </a:solidFill>
              <a:latin typeface="Arial"/>
            </a:endParaRPr>
          </a:p>
          <a:p>
            <a:pPr defTabSz="914400">
              <a:lnSpc>
                <a:spcPct val="100000"/>
              </a:lnSpc>
            </a:pPr>
            <a:r>
              <a:rPr lang="es-ES" sz="1600" b="0" strike="noStrike" spc="-1" dirty="0">
                <a:solidFill>
                  <a:srgbClr val="582808"/>
                </a:solidFill>
                <a:latin typeface="Calibri"/>
              </a:rPr>
              <a:t>Por último, alguna </a:t>
            </a:r>
            <a:r>
              <a:rPr lang="es-ES" sz="1600" b="0" strike="noStrike" spc="-1" dirty="0" err="1">
                <a:solidFill>
                  <a:srgbClr val="582808"/>
                </a:solidFill>
                <a:latin typeface="Calibri"/>
              </a:rPr>
              <a:t>feature</a:t>
            </a:r>
            <a:r>
              <a:rPr lang="es-ES" sz="1600" b="0" strike="noStrike" spc="-1" dirty="0">
                <a:solidFill>
                  <a:srgbClr val="582808"/>
                </a:solidFill>
                <a:latin typeface="Calibri"/>
              </a:rPr>
              <a:t> con alta cardinalidad, tuvimos que aplicarle </a:t>
            </a:r>
            <a:r>
              <a:rPr lang="es-ES" sz="1600" b="0" strike="noStrike" spc="-1" dirty="0" err="1">
                <a:solidFill>
                  <a:srgbClr val="582808"/>
                </a:solidFill>
                <a:latin typeface="Calibri"/>
              </a:rPr>
              <a:t>feature</a:t>
            </a:r>
            <a:r>
              <a:rPr lang="es-ES" sz="1600" b="0" strike="noStrike" spc="-1" dirty="0">
                <a:solidFill>
                  <a:srgbClr val="582808"/>
                </a:solidFill>
                <a:latin typeface="Calibri"/>
              </a:rPr>
              <a:t> </a:t>
            </a:r>
            <a:r>
              <a:rPr lang="es-ES" sz="1600" b="0" strike="noStrike" spc="-1" dirty="0" err="1">
                <a:solidFill>
                  <a:srgbClr val="582808"/>
                </a:solidFill>
                <a:latin typeface="Calibri"/>
              </a:rPr>
              <a:t>encoding</a:t>
            </a:r>
            <a:r>
              <a:rPr lang="es-ES" sz="1600" b="0" strike="noStrike" spc="-1" dirty="0">
                <a:solidFill>
                  <a:srgbClr val="582808"/>
                </a:solidFill>
                <a:latin typeface="Calibri"/>
              </a:rPr>
              <a:t> para dotarla de sentido para el modelo, por lo que este tratamiento lo aplicamos únicamente a </a:t>
            </a:r>
            <a:r>
              <a:rPr lang="es-ES" sz="1600" b="0" strike="noStrike" spc="-1" dirty="0" err="1">
                <a:solidFill>
                  <a:srgbClr val="582808"/>
                </a:solidFill>
                <a:latin typeface="Calibri"/>
              </a:rPr>
              <a:t>train</a:t>
            </a:r>
            <a:r>
              <a:rPr lang="es-ES" sz="1600" b="0" strike="noStrike" spc="-1" dirty="0">
                <a:solidFill>
                  <a:srgbClr val="582808"/>
                </a:solidFill>
                <a:latin typeface="Calibri"/>
              </a:rPr>
              <a:t> para no provocar un “</a:t>
            </a:r>
            <a:r>
              <a:rPr lang="es-ES" sz="1600" b="0" i="1" strike="noStrike" spc="-1" dirty="0">
                <a:solidFill>
                  <a:srgbClr val="582808"/>
                </a:solidFill>
                <a:latin typeface="Calibri"/>
              </a:rPr>
              <a:t>data </a:t>
            </a:r>
            <a:r>
              <a:rPr lang="es-ES" sz="1600" b="0" i="1" strike="noStrike" spc="-1" dirty="0" err="1">
                <a:solidFill>
                  <a:srgbClr val="582808"/>
                </a:solidFill>
                <a:latin typeface="Calibri"/>
              </a:rPr>
              <a:t>leakage</a:t>
            </a:r>
            <a:r>
              <a:rPr lang="es-ES" sz="1600" b="0" strike="noStrike" spc="-1" dirty="0">
                <a:solidFill>
                  <a:srgbClr val="582808"/>
                </a:solidFill>
                <a:latin typeface="Calibri"/>
              </a:rPr>
              <a:t>” en los datos sobre los que predeciríamos.</a:t>
            </a:r>
            <a:endParaRPr lang="es-ES" sz="1600" b="0" strike="noStrike" spc="-1" dirty="0">
              <a:solidFill>
                <a:srgbClr val="000000"/>
              </a:solidFill>
              <a:latin typeface="Arial"/>
            </a:endParaRPr>
          </a:p>
        </p:txBody>
      </p:sp>
      <p:pic>
        <p:nvPicPr>
          <p:cNvPr id="6" name="Imagen 20">
            <a:hlinkClick r:id="rId2" action="ppaction://hlinksldjump"/>
            <a:extLst>
              <a:ext uri="{FF2B5EF4-FFF2-40B4-BE49-F238E27FC236}">
                <a16:creationId xmlns:a16="http://schemas.microsoft.com/office/drawing/2014/main" id="{2E7451B6-7E64-4DEB-B414-503A9ADFACF0}"/>
              </a:ext>
            </a:extLst>
          </p:cNvPr>
          <p:cNvPicPr/>
          <p:nvPr/>
        </p:nvPicPr>
        <p:blipFill>
          <a:blip r:embed="rId3"/>
          <a:stretch/>
        </p:blipFill>
        <p:spPr>
          <a:xfrm>
            <a:off x="10706465" y="347264"/>
            <a:ext cx="1220995" cy="664372"/>
          </a:xfrm>
          <a:prstGeom prst="rect">
            <a:avLst/>
          </a:prstGeom>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66" name="CuadroTexto 7"/>
          <p:cNvSpPr/>
          <p:nvPr/>
        </p:nvSpPr>
        <p:spPr>
          <a:xfrm>
            <a:off x="527760" y="479520"/>
            <a:ext cx="1113516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3000" b="1" spc="-1" dirty="0">
                <a:solidFill>
                  <a:schemeClr val="accent2">
                    <a:lumMod val="50000"/>
                  </a:schemeClr>
                </a:solidFill>
                <a:latin typeface="+mj-lt"/>
              </a:rPr>
              <a:t>Selección de métricas y CV</a:t>
            </a:r>
          </a:p>
          <a:p>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sp>
        <p:nvSpPr>
          <p:cNvPr id="8" name="CuadroTexto 13">
            <a:extLst>
              <a:ext uri="{FF2B5EF4-FFF2-40B4-BE49-F238E27FC236}">
                <a16:creationId xmlns:a16="http://schemas.microsoft.com/office/drawing/2014/main" id="{0CAEE926-6477-42E9-A71A-E440C5622199}"/>
              </a:ext>
            </a:extLst>
          </p:cNvPr>
          <p:cNvSpPr/>
          <p:nvPr/>
        </p:nvSpPr>
        <p:spPr>
          <a:xfrm>
            <a:off x="622080" y="1906233"/>
            <a:ext cx="10946520" cy="304553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Transformamos el target a </a:t>
            </a:r>
            <a:r>
              <a:rPr lang="es-ES" sz="1600" b="0" strike="noStrike" spc="-1" dirty="0" err="1">
                <a:solidFill>
                  <a:srgbClr val="582808"/>
                </a:solidFill>
                <a:latin typeface="Calibri"/>
              </a:rPr>
              <a:t>revenue_log</a:t>
            </a:r>
            <a:r>
              <a:rPr lang="es-ES" sz="1600" b="0" strike="noStrike" spc="-1" dirty="0">
                <a:solidFill>
                  <a:srgbClr val="582808"/>
                </a:solidFill>
                <a:latin typeface="Calibri"/>
              </a:rPr>
              <a:t> = log1p(</a:t>
            </a:r>
            <a:r>
              <a:rPr lang="es-ES" sz="1600" b="0" strike="noStrike" spc="-1" dirty="0" err="1">
                <a:solidFill>
                  <a:srgbClr val="582808"/>
                </a:solidFill>
                <a:latin typeface="Calibri"/>
              </a:rPr>
              <a:t>revenue</a:t>
            </a:r>
            <a:r>
              <a:rPr lang="es-ES" sz="1600" b="0" strike="noStrike" spc="-1" dirty="0">
                <a:solidFill>
                  <a:srgbClr val="582808"/>
                </a:solidFill>
                <a:latin typeface="Calibri"/>
              </a:rPr>
              <a:t>) para reducir asimetría y el impacto de </a:t>
            </a:r>
            <a:r>
              <a:rPr lang="es-ES" sz="1600" b="0" strike="noStrike" spc="-1" dirty="0" err="1">
                <a:solidFill>
                  <a:srgbClr val="582808"/>
                </a:solidFill>
                <a:latin typeface="Calibri"/>
              </a:rPr>
              <a:t>outliers</a:t>
            </a:r>
            <a:r>
              <a:rPr lang="es-ES" sz="1600" b="0" strike="noStrike" spc="-1" dirty="0">
                <a:solidFill>
                  <a:srgbClr val="582808"/>
                </a:solidFill>
                <a:latin typeface="Calibri"/>
              </a:rPr>
              <a:t> en una variable monetaria.</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Elegimos </a:t>
            </a:r>
            <a:r>
              <a:rPr lang="es-ES" sz="1600" b="1" strike="noStrike" spc="-1" dirty="0">
                <a:solidFill>
                  <a:srgbClr val="582808"/>
                </a:solidFill>
                <a:latin typeface="Calibri"/>
              </a:rPr>
              <a:t>RMSE</a:t>
            </a:r>
            <a:r>
              <a:rPr lang="es-ES" sz="1600" b="0" strike="noStrike" spc="-1" dirty="0">
                <a:solidFill>
                  <a:srgbClr val="582808"/>
                </a:solidFill>
                <a:latin typeface="Calibri"/>
              </a:rPr>
              <a:t> como métrica principal (sobre </a:t>
            </a:r>
            <a:r>
              <a:rPr lang="es-ES" sz="1600" b="0" strike="noStrike" spc="-1" dirty="0" err="1">
                <a:solidFill>
                  <a:srgbClr val="582808"/>
                </a:solidFill>
                <a:latin typeface="Calibri"/>
              </a:rPr>
              <a:t>revenue_log</a:t>
            </a:r>
            <a:r>
              <a:rPr lang="es-ES" sz="1600" b="0" strike="noStrike" spc="-1" dirty="0">
                <a:solidFill>
                  <a:srgbClr val="582808"/>
                </a:solidFill>
                <a:latin typeface="Calibri"/>
              </a:rPr>
              <a:t>) porque penaliza más los errores grandes y permite comparar modelos de forma consistente.</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Para interpretar resultados en euros, deshacemos la transformación al evaluar: </a:t>
            </a:r>
            <a:r>
              <a:rPr lang="es-ES" sz="1600" b="0" strike="noStrike" spc="-1" dirty="0" err="1">
                <a:solidFill>
                  <a:srgbClr val="582808"/>
                </a:solidFill>
                <a:latin typeface="Calibri"/>
              </a:rPr>
              <a:t>revenue</a:t>
            </a:r>
            <a:r>
              <a:rPr lang="es-ES" sz="1600" b="0" strike="noStrike" spc="-1" dirty="0">
                <a:solidFill>
                  <a:srgbClr val="582808"/>
                </a:solidFill>
                <a:latin typeface="Calibri"/>
              </a:rPr>
              <a:t> = expm1(</a:t>
            </a:r>
            <a:r>
              <a:rPr lang="es-ES" sz="1600" b="0" strike="noStrike" spc="-1" dirty="0" err="1">
                <a:solidFill>
                  <a:srgbClr val="582808"/>
                </a:solidFill>
                <a:latin typeface="Calibri"/>
              </a:rPr>
              <a:t>revenue_log</a:t>
            </a:r>
            <a:r>
              <a:rPr lang="es-ES" sz="1600" b="0" strike="noStrike" spc="-1" dirty="0">
                <a:solidFill>
                  <a:srgbClr val="582808"/>
                </a:solidFill>
                <a:latin typeface="Calibri"/>
              </a:rPr>
              <a:t>).</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Establecimos un único protocolo de evaluación con </a:t>
            </a:r>
            <a:r>
              <a:rPr lang="es-ES" sz="1600" b="1" strike="noStrike" spc="-1" dirty="0">
                <a:solidFill>
                  <a:srgbClr val="582808"/>
                </a:solidFill>
                <a:latin typeface="Calibri"/>
              </a:rPr>
              <a:t>K-</a:t>
            </a:r>
            <a:r>
              <a:rPr lang="es-ES" sz="1600" b="1" strike="noStrike" spc="-1" dirty="0" err="1">
                <a:solidFill>
                  <a:srgbClr val="582808"/>
                </a:solidFill>
                <a:latin typeface="Calibri"/>
              </a:rPr>
              <a:t>Fold</a:t>
            </a:r>
            <a:r>
              <a:rPr lang="es-ES" sz="1600" b="1" strike="noStrike" spc="-1" dirty="0">
                <a:solidFill>
                  <a:srgbClr val="582808"/>
                </a:solidFill>
                <a:latin typeface="Calibri"/>
              </a:rPr>
              <a:t> Cross-</a:t>
            </a:r>
            <a:r>
              <a:rPr lang="es-ES" sz="1600" b="1" strike="noStrike" spc="-1" dirty="0" err="1">
                <a:solidFill>
                  <a:srgbClr val="582808"/>
                </a:solidFill>
                <a:latin typeface="Calibri"/>
              </a:rPr>
              <a:t>Validation</a:t>
            </a:r>
            <a:r>
              <a:rPr lang="es-ES" sz="1600" b="1" strike="noStrike" spc="-1" dirty="0">
                <a:solidFill>
                  <a:srgbClr val="582808"/>
                </a:solidFill>
                <a:latin typeface="Calibri"/>
              </a:rPr>
              <a:t> </a:t>
            </a:r>
            <a:r>
              <a:rPr lang="es-ES" sz="1600" b="0" strike="noStrike" spc="-1" dirty="0">
                <a:solidFill>
                  <a:srgbClr val="582808"/>
                </a:solidFill>
                <a:latin typeface="Calibri"/>
              </a:rPr>
              <a:t>(k=5), usando </a:t>
            </a:r>
            <a:r>
              <a:rPr lang="es-ES" sz="1600" b="0" strike="noStrike" spc="-1" dirty="0" err="1">
                <a:solidFill>
                  <a:srgbClr val="582808"/>
                </a:solidFill>
                <a:latin typeface="Calibri"/>
              </a:rPr>
              <a:t>shuffle</a:t>
            </a:r>
            <a:r>
              <a:rPr lang="es-ES" sz="1600" b="0" strike="noStrike" spc="-1" dirty="0">
                <a:solidFill>
                  <a:srgbClr val="582808"/>
                </a:solidFill>
                <a:latin typeface="Calibri"/>
              </a:rPr>
              <a:t>=True y </a:t>
            </a:r>
            <a:r>
              <a:rPr lang="es-ES" sz="1600" b="0" strike="noStrike" spc="-1" dirty="0" err="1">
                <a:solidFill>
                  <a:srgbClr val="582808"/>
                </a:solidFill>
                <a:latin typeface="Calibri"/>
              </a:rPr>
              <a:t>random_state</a:t>
            </a:r>
            <a:r>
              <a:rPr lang="es-ES" sz="1600" b="0" strike="noStrike" spc="-1" dirty="0">
                <a:solidFill>
                  <a:srgbClr val="582808"/>
                </a:solidFill>
                <a:latin typeface="Calibri"/>
              </a:rPr>
              <a:t>= 42 para reproducibilidad.</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Regla clave: todos los modelos se evalúan con la </a:t>
            </a:r>
            <a:r>
              <a:rPr lang="es-ES" sz="1600" b="1" strike="noStrike" spc="-1" dirty="0">
                <a:solidFill>
                  <a:srgbClr val="582808"/>
                </a:solidFill>
                <a:latin typeface="Calibri"/>
              </a:rPr>
              <a:t>misma CV y la misma métrica</a:t>
            </a:r>
            <a:r>
              <a:rPr lang="es-ES" sz="1600" b="0" strike="noStrike" spc="-1" dirty="0">
                <a:solidFill>
                  <a:srgbClr val="582808"/>
                </a:solidFill>
                <a:latin typeface="Calibri"/>
              </a:rPr>
              <a:t>, evitando comparaciones sesgadas.</a:t>
            </a:r>
          </a:p>
        </p:txBody>
      </p:sp>
      <p:pic>
        <p:nvPicPr>
          <p:cNvPr id="10" name="Imagen 28">
            <a:hlinkClick r:id="rId2" action="ppaction://hlinksldjump"/>
            <a:extLst>
              <a:ext uri="{FF2B5EF4-FFF2-40B4-BE49-F238E27FC236}">
                <a16:creationId xmlns:a16="http://schemas.microsoft.com/office/drawing/2014/main" id="{42D78302-A6EC-4729-9E70-A5A02898C129}"/>
              </a:ext>
            </a:extLst>
          </p:cNvPr>
          <p:cNvPicPr/>
          <p:nvPr/>
        </p:nvPicPr>
        <p:blipFill>
          <a:blip r:embed="rId3"/>
          <a:stretch/>
        </p:blipFill>
        <p:spPr>
          <a:xfrm>
            <a:off x="10477440" y="272022"/>
            <a:ext cx="1368360" cy="1014209"/>
          </a:xfrm>
          <a:prstGeom prst="rect">
            <a:avLst/>
          </a:prstGeom>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D9308-8FED-78CC-795C-C73711E967AE}"/>
            </a:ext>
          </a:extLst>
        </p:cNvPr>
        <p:cNvGrpSpPr/>
        <p:nvPr/>
      </p:nvGrpSpPr>
      <p:grpSpPr>
        <a:xfrm>
          <a:off x="0" y="0"/>
          <a:ext cx="0" cy="0"/>
          <a:chOff x="0" y="0"/>
          <a:chExt cx="0" cy="0"/>
        </a:xfrm>
      </p:grpSpPr>
      <p:sp>
        <p:nvSpPr>
          <p:cNvPr id="65" name="Rectángulo 5">
            <a:extLst>
              <a:ext uri="{FF2B5EF4-FFF2-40B4-BE49-F238E27FC236}">
                <a16:creationId xmlns:a16="http://schemas.microsoft.com/office/drawing/2014/main" id="{E3F3403C-0898-DF37-8E0A-3CB66ED5BE76}"/>
              </a:ext>
            </a:extLst>
          </p:cNvPr>
          <p:cNvSpPr/>
          <p:nvPr/>
        </p:nvSpPr>
        <p:spPr>
          <a:xfrm>
            <a:off x="-180" y="10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66" name="CuadroTexto 7">
            <a:extLst>
              <a:ext uri="{FF2B5EF4-FFF2-40B4-BE49-F238E27FC236}">
                <a16:creationId xmlns:a16="http://schemas.microsoft.com/office/drawing/2014/main" id="{4A8F80E1-C4AD-C455-ACA7-7A77C7151180}"/>
              </a:ext>
            </a:extLst>
          </p:cNvPr>
          <p:cNvSpPr/>
          <p:nvPr/>
        </p:nvSpPr>
        <p:spPr>
          <a:xfrm>
            <a:off x="527760" y="479520"/>
            <a:ext cx="11135160" cy="64487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3000" spc="-1" dirty="0">
                <a:solidFill>
                  <a:schemeClr val="accent2">
                    <a:lumMod val="50000"/>
                  </a:schemeClr>
                </a:solidFill>
              </a:rPr>
              <a:t>(Código/Baselines)</a:t>
            </a:r>
            <a:endParaRPr lang="es-ES" sz="3000" spc="-1" dirty="0">
              <a:solidFill>
                <a:schemeClr val="accent2">
                  <a:lumMod val="50000"/>
                </a:schemeClr>
              </a:solidFill>
              <a:latin typeface="+mj-lt"/>
            </a:endParaRPr>
          </a:p>
        </p:txBody>
      </p:sp>
      <p:pic>
        <p:nvPicPr>
          <p:cNvPr id="9" name="Imagen 8">
            <a:extLst>
              <a:ext uri="{FF2B5EF4-FFF2-40B4-BE49-F238E27FC236}">
                <a16:creationId xmlns:a16="http://schemas.microsoft.com/office/drawing/2014/main" id="{B064AFE3-85B3-17B3-E0BB-40B45DDAAC28}"/>
              </a:ext>
            </a:extLst>
          </p:cNvPr>
          <p:cNvPicPr>
            <a:picLocks noChangeAspect="1"/>
          </p:cNvPicPr>
          <p:nvPr/>
        </p:nvPicPr>
        <p:blipFill>
          <a:blip r:embed="rId2"/>
          <a:stretch>
            <a:fillRect/>
          </a:stretch>
        </p:blipFill>
        <p:spPr>
          <a:xfrm>
            <a:off x="703557" y="1837422"/>
            <a:ext cx="5115247" cy="4307552"/>
          </a:xfrm>
          <a:prstGeom prst="rect">
            <a:avLst/>
          </a:prstGeom>
        </p:spPr>
      </p:pic>
      <p:pic>
        <p:nvPicPr>
          <p:cNvPr id="11" name="Imagen 10">
            <a:extLst>
              <a:ext uri="{FF2B5EF4-FFF2-40B4-BE49-F238E27FC236}">
                <a16:creationId xmlns:a16="http://schemas.microsoft.com/office/drawing/2014/main" id="{0C91C020-F91E-B7DB-E38E-692A91AED81E}"/>
              </a:ext>
            </a:extLst>
          </p:cNvPr>
          <p:cNvPicPr>
            <a:picLocks noChangeAspect="1"/>
          </p:cNvPicPr>
          <p:nvPr/>
        </p:nvPicPr>
        <p:blipFill>
          <a:blip r:embed="rId3"/>
          <a:stretch>
            <a:fillRect/>
          </a:stretch>
        </p:blipFill>
        <p:spPr>
          <a:xfrm>
            <a:off x="6373197" y="1837422"/>
            <a:ext cx="2801284" cy="2456682"/>
          </a:xfrm>
          <a:prstGeom prst="rect">
            <a:avLst/>
          </a:prstGeom>
        </p:spPr>
      </p:pic>
      <p:pic>
        <p:nvPicPr>
          <p:cNvPr id="13" name="Imagen 12">
            <a:extLst>
              <a:ext uri="{FF2B5EF4-FFF2-40B4-BE49-F238E27FC236}">
                <a16:creationId xmlns:a16="http://schemas.microsoft.com/office/drawing/2014/main" id="{DE6A9D79-7F64-0582-1BE4-9B1C18070686}"/>
              </a:ext>
            </a:extLst>
          </p:cNvPr>
          <p:cNvPicPr>
            <a:picLocks noChangeAspect="1"/>
          </p:cNvPicPr>
          <p:nvPr/>
        </p:nvPicPr>
        <p:blipFill>
          <a:blip r:embed="rId4"/>
          <a:stretch>
            <a:fillRect/>
          </a:stretch>
        </p:blipFill>
        <p:spPr>
          <a:xfrm>
            <a:off x="6373197" y="4352012"/>
            <a:ext cx="4261440" cy="1792962"/>
          </a:xfrm>
          <a:prstGeom prst="rect">
            <a:avLst/>
          </a:prstGeom>
        </p:spPr>
      </p:pic>
      <p:pic>
        <p:nvPicPr>
          <p:cNvPr id="8" name="Imagen 28">
            <a:hlinkClick r:id="rId5" action="ppaction://hlinksldjump"/>
            <a:extLst>
              <a:ext uri="{FF2B5EF4-FFF2-40B4-BE49-F238E27FC236}">
                <a16:creationId xmlns:a16="http://schemas.microsoft.com/office/drawing/2014/main" id="{2B10C040-0CD9-4DC5-84E5-3DE82AC595E6}"/>
              </a:ext>
            </a:extLst>
          </p:cNvPr>
          <p:cNvPicPr/>
          <p:nvPr/>
        </p:nvPicPr>
        <p:blipFill>
          <a:blip r:embed="rId6"/>
          <a:stretch/>
        </p:blipFill>
        <p:spPr>
          <a:xfrm>
            <a:off x="10477440" y="272022"/>
            <a:ext cx="1368360" cy="1014209"/>
          </a:xfrm>
          <a:prstGeom prst="rect">
            <a:avLst/>
          </a:prstGeom>
          <a:ln w="0">
            <a:noFill/>
          </a:ln>
        </p:spPr>
      </p:pic>
    </p:spTree>
    <p:extLst>
      <p:ext uri="{BB962C8B-B14F-4D97-AF65-F5344CB8AC3E}">
        <p14:creationId xmlns:p14="http://schemas.microsoft.com/office/powerpoint/2010/main" val="2978231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66" name="CuadroTexto 7"/>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a:t>
            </a:r>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sp>
        <p:nvSpPr>
          <p:cNvPr id="8" name="CuadroTexto 13">
            <a:extLst>
              <a:ext uri="{FF2B5EF4-FFF2-40B4-BE49-F238E27FC236}">
                <a16:creationId xmlns:a16="http://schemas.microsoft.com/office/drawing/2014/main" id="{0CAEE926-6477-42E9-A71A-E440C5622199}"/>
              </a:ext>
            </a:extLst>
          </p:cNvPr>
          <p:cNvSpPr/>
          <p:nvPr/>
        </p:nvSpPr>
        <p:spPr>
          <a:xfrm>
            <a:off x="622080" y="1906233"/>
            <a:ext cx="10946520" cy="304553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Pipelines por modelo: mismo preprocesado (imputación; escalado solo en lineales) para evitar </a:t>
            </a:r>
            <a:r>
              <a:rPr lang="es-ES" sz="1600" b="0" strike="noStrike" spc="-1" dirty="0" err="1">
                <a:solidFill>
                  <a:srgbClr val="582808"/>
                </a:solidFill>
                <a:latin typeface="Calibri"/>
              </a:rPr>
              <a:t>leakage</a:t>
            </a:r>
            <a:r>
              <a:rPr lang="es-ES" sz="1600" b="0" strike="noStrike" spc="-1" dirty="0">
                <a:solidFill>
                  <a:srgbClr val="582808"/>
                </a:solidFill>
                <a:latin typeface="Calibri"/>
              </a:rPr>
              <a:t> y comparar de forma justa.</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err="1">
                <a:solidFill>
                  <a:srgbClr val="582808"/>
                </a:solidFill>
                <a:latin typeface="Calibri"/>
              </a:rPr>
              <a:t>Baseline</a:t>
            </a:r>
            <a:r>
              <a:rPr lang="es-ES" sz="1600" b="0" strike="noStrike" spc="-1" dirty="0">
                <a:solidFill>
                  <a:srgbClr val="582808"/>
                </a:solidFill>
                <a:latin typeface="Calibri"/>
              </a:rPr>
              <a:t> y comparativa: probamos Ridge (</a:t>
            </a:r>
            <a:r>
              <a:rPr lang="es-ES" sz="1600" b="0" strike="noStrike" spc="-1" dirty="0" err="1">
                <a:solidFill>
                  <a:srgbClr val="582808"/>
                </a:solidFill>
                <a:latin typeface="Calibri"/>
              </a:rPr>
              <a:t>baseline</a:t>
            </a:r>
            <a:r>
              <a:rPr lang="es-ES" sz="1600" b="0" strike="noStrike" spc="-1" dirty="0">
                <a:solidFill>
                  <a:srgbClr val="582808"/>
                </a:solidFill>
                <a:latin typeface="Calibri"/>
              </a:rPr>
              <a:t>), </a:t>
            </a:r>
            <a:r>
              <a:rPr lang="es-ES" sz="1600" b="0" strike="noStrike" spc="-1" dirty="0" err="1">
                <a:solidFill>
                  <a:srgbClr val="582808"/>
                </a:solidFill>
                <a:latin typeface="Calibri"/>
              </a:rPr>
              <a:t>Random</a:t>
            </a:r>
            <a:r>
              <a:rPr lang="es-ES" sz="1600" b="0" strike="noStrike" spc="-1" dirty="0">
                <a:solidFill>
                  <a:srgbClr val="582808"/>
                </a:solidFill>
                <a:latin typeface="Calibri"/>
              </a:rPr>
              <a:t> Forest y </a:t>
            </a:r>
            <a:r>
              <a:rPr lang="es-ES" sz="1600" b="0" strike="noStrike" spc="-1" dirty="0" err="1">
                <a:solidFill>
                  <a:srgbClr val="582808"/>
                </a:solidFill>
                <a:latin typeface="Calibri"/>
              </a:rPr>
              <a:t>XGBoost</a:t>
            </a:r>
            <a:r>
              <a:rPr lang="es-ES" sz="1600" b="0" strike="noStrike" spc="-1" dirty="0">
                <a:solidFill>
                  <a:srgbClr val="582808"/>
                </a:solidFill>
                <a:latin typeface="Calibri"/>
              </a:rPr>
              <a:t> con K-</a:t>
            </a:r>
            <a:r>
              <a:rPr lang="es-ES" sz="1600" b="0" strike="noStrike" spc="-1" dirty="0" err="1">
                <a:solidFill>
                  <a:srgbClr val="582808"/>
                </a:solidFill>
                <a:latin typeface="Calibri"/>
              </a:rPr>
              <a:t>Fold</a:t>
            </a:r>
            <a:r>
              <a:rPr lang="es-ES" sz="1600" b="0" strike="noStrike" spc="-1" dirty="0">
                <a:solidFill>
                  <a:srgbClr val="582808"/>
                </a:solidFill>
                <a:latin typeface="Calibri"/>
              </a:rPr>
              <a:t> CV (k=5) y RMSE sobre </a:t>
            </a:r>
            <a:r>
              <a:rPr lang="es-ES" sz="1600" b="0" strike="noStrike" spc="-1" dirty="0" err="1">
                <a:solidFill>
                  <a:srgbClr val="582808"/>
                </a:solidFill>
                <a:latin typeface="Calibri"/>
              </a:rPr>
              <a:t>revenue_log</a:t>
            </a:r>
            <a:r>
              <a:rPr lang="es-ES" sz="1600" b="0" strike="noStrike" spc="-1" dirty="0">
                <a:solidFill>
                  <a:srgbClr val="582808"/>
                </a:solidFill>
                <a:latin typeface="Calibri"/>
              </a:rPr>
              <a:t>.</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Selección del modelo: el menor RMSE en CV fue </a:t>
            </a:r>
            <a:r>
              <a:rPr lang="es-ES" sz="1600" b="0" strike="noStrike" spc="-1" dirty="0" err="1">
                <a:solidFill>
                  <a:srgbClr val="582808"/>
                </a:solidFill>
                <a:latin typeface="Calibri"/>
              </a:rPr>
              <a:t>XGBoost</a:t>
            </a:r>
            <a:r>
              <a:rPr lang="es-ES" sz="1600" b="0" strike="noStrike" spc="-1" dirty="0">
                <a:solidFill>
                  <a:srgbClr val="582808"/>
                </a:solidFill>
                <a:latin typeface="Calibri"/>
              </a:rPr>
              <a:t>, por lo que se eligió para entrenamiento final y posterior optimización.</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Chequeo del target en euros: calculamos media, mediana y percentiles (tras expm1) para entender la magnitud real del </a:t>
            </a:r>
            <a:r>
              <a:rPr lang="es-ES" sz="1600" b="0" strike="noStrike" spc="-1" dirty="0" err="1">
                <a:solidFill>
                  <a:srgbClr val="582808"/>
                </a:solidFill>
                <a:latin typeface="Calibri"/>
              </a:rPr>
              <a:t>revenue</a:t>
            </a:r>
            <a:r>
              <a:rPr lang="es-ES" sz="1600" b="0" strike="noStrike" spc="-1" dirty="0">
                <a:solidFill>
                  <a:srgbClr val="582808"/>
                </a:solidFill>
                <a:latin typeface="Calibri"/>
              </a:rPr>
              <a:t> y poder interpretar el error.</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defTabSz="914400">
              <a:lnSpc>
                <a:spcPct val="100000"/>
              </a:lnSpc>
              <a:buClr>
                <a:srgbClr val="582808"/>
              </a:buClr>
              <a:buFont typeface="Wingdings" charset="2"/>
              <a:buChar char=""/>
            </a:pPr>
            <a:r>
              <a:rPr lang="es-ES" sz="1600" b="0" strike="noStrike" spc="-1" dirty="0">
                <a:solidFill>
                  <a:srgbClr val="582808"/>
                </a:solidFill>
                <a:latin typeface="Calibri"/>
              </a:rPr>
              <a:t>Interpretación del RMSE (€): el </a:t>
            </a:r>
            <a:r>
              <a:rPr lang="es-ES" sz="1600" b="0" strike="noStrike" spc="-1" dirty="0" err="1">
                <a:solidFill>
                  <a:srgbClr val="582808"/>
                </a:solidFill>
                <a:latin typeface="Calibri"/>
              </a:rPr>
              <a:t>revenue</a:t>
            </a:r>
            <a:r>
              <a:rPr lang="es-ES" sz="1600" b="0" strike="noStrike" spc="-1" dirty="0">
                <a:solidFill>
                  <a:srgbClr val="582808"/>
                </a:solidFill>
                <a:latin typeface="Calibri"/>
              </a:rPr>
              <a:t> tiene cola muy pesada (p99 ≈ 84k€ y máximo ≈ 2M€). Como RMSE penaliza errores al cuadrado, estos casos extremos pueden inflar el RMSE en euros aunque el modelo funcione bien para la mayoría.</a:t>
            </a:r>
          </a:p>
        </p:txBody>
      </p:sp>
      <p:pic>
        <p:nvPicPr>
          <p:cNvPr id="10" name="Imagen 28">
            <a:hlinkClick r:id="rId2" action="ppaction://hlinksldjump"/>
            <a:extLst>
              <a:ext uri="{FF2B5EF4-FFF2-40B4-BE49-F238E27FC236}">
                <a16:creationId xmlns:a16="http://schemas.microsoft.com/office/drawing/2014/main" id="{42D78302-A6EC-4729-9E70-A5A02898C129}"/>
              </a:ext>
            </a:extLst>
          </p:cNvPr>
          <p:cNvPicPr/>
          <p:nvPr/>
        </p:nvPicPr>
        <p:blipFill>
          <a:blip r:embed="rId3"/>
          <a:stretch/>
        </p:blipFill>
        <p:spPr>
          <a:xfrm>
            <a:off x="10477440" y="272022"/>
            <a:ext cx="1368360" cy="1014209"/>
          </a:xfrm>
          <a:prstGeom prst="rect">
            <a:avLst/>
          </a:prstGeom>
          <a:ln w="0">
            <a:noFill/>
          </a:ln>
        </p:spPr>
      </p:pic>
    </p:spTree>
    <p:extLst>
      <p:ext uri="{BB962C8B-B14F-4D97-AF65-F5344CB8AC3E}">
        <p14:creationId xmlns:p14="http://schemas.microsoft.com/office/powerpoint/2010/main" val="3099402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accent2">
                  <a:lumMod val="50000"/>
                </a:schemeClr>
              </a:solidFill>
              <a:latin typeface="Calibri"/>
            </a:endParaRPr>
          </a:p>
        </p:txBody>
      </p:sp>
      <p:sp>
        <p:nvSpPr>
          <p:cNvPr id="66" name="CuadroTexto 7"/>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3000" b="1" spc="-1" dirty="0">
                <a:solidFill>
                  <a:schemeClr val="accent2">
                    <a:lumMod val="50000"/>
                  </a:schemeClr>
                </a:solidFill>
                <a:latin typeface="+mj-lt"/>
              </a:rPr>
              <a:t>Optimización de </a:t>
            </a:r>
            <a:r>
              <a:rPr lang="es-ES" sz="3000" b="1" spc="-1" dirty="0" err="1">
                <a:solidFill>
                  <a:schemeClr val="accent2">
                    <a:lumMod val="50000"/>
                  </a:schemeClr>
                </a:solidFill>
                <a:latin typeface="+mj-lt"/>
              </a:rPr>
              <a:t>hiperparámetros</a:t>
            </a:r>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pic>
        <p:nvPicPr>
          <p:cNvPr id="10" name="Imagen 28">
            <a:hlinkClick r:id="rId2" action="ppaction://hlinksldjump"/>
            <a:extLst>
              <a:ext uri="{FF2B5EF4-FFF2-40B4-BE49-F238E27FC236}">
                <a16:creationId xmlns:a16="http://schemas.microsoft.com/office/drawing/2014/main" id="{42D78302-A6EC-4729-9E70-A5A02898C129}"/>
              </a:ext>
            </a:extLst>
          </p:cNvPr>
          <p:cNvPicPr/>
          <p:nvPr/>
        </p:nvPicPr>
        <p:blipFill>
          <a:blip r:embed="rId3"/>
          <a:stretch/>
        </p:blipFill>
        <p:spPr>
          <a:xfrm>
            <a:off x="10477440" y="272022"/>
            <a:ext cx="1368360" cy="1014209"/>
          </a:xfrm>
          <a:prstGeom prst="rect">
            <a:avLst/>
          </a:prstGeom>
          <a:ln w="0">
            <a:noFill/>
          </a:ln>
        </p:spPr>
      </p:pic>
      <p:sp>
        <p:nvSpPr>
          <p:cNvPr id="7" name="CuadroTexto 16">
            <a:extLst>
              <a:ext uri="{FF2B5EF4-FFF2-40B4-BE49-F238E27FC236}">
                <a16:creationId xmlns:a16="http://schemas.microsoft.com/office/drawing/2014/main" id="{90F91F3A-1179-4A16-A5DE-BDAACFACC3F6}"/>
              </a:ext>
            </a:extLst>
          </p:cNvPr>
          <p:cNvSpPr/>
          <p:nvPr/>
        </p:nvSpPr>
        <p:spPr>
          <a:xfrm>
            <a:off x="716400" y="1582200"/>
            <a:ext cx="10946520" cy="427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914400">
              <a:lnSpc>
                <a:spcPct val="100000"/>
              </a:lnSpc>
            </a:pPr>
            <a:r>
              <a:rPr lang="es-ES" sz="1600" b="0" strike="noStrike" spc="-1" dirty="0">
                <a:solidFill>
                  <a:srgbClr val="582808"/>
                </a:solidFill>
                <a:latin typeface="Calibri"/>
              </a:rPr>
              <a:t>Tras construir varios modelos base (</a:t>
            </a:r>
            <a:r>
              <a:rPr lang="es-ES" sz="1600" b="0" strike="noStrike" spc="-1" dirty="0" err="1">
                <a:solidFill>
                  <a:srgbClr val="582808"/>
                </a:solidFill>
                <a:latin typeface="Calibri"/>
              </a:rPr>
              <a:t>baseline</a:t>
            </a:r>
            <a:r>
              <a:rPr lang="es-ES" sz="1600" b="0" strike="noStrike" spc="-1" dirty="0">
                <a:solidFill>
                  <a:srgbClr val="582808"/>
                </a:solidFill>
                <a:latin typeface="Calibri"/>
              </a:rPr>
              <a:t>), el siguiente paso consiste en mejorar su rendimiento ajustando sus </a:t>
            </a:r>
            <a:r>
              <a:rPr lang="es-ES" sz="1600" b="0" strike="noStrike" spc="-1" dirty="0" err="1">
                <a:solidFill>
                  <a:srgbClr val="582808"/>
                </a:solidFill>
                <a:latin typeface="Calibri"/>
              </a:rPr>
              <a:t>hiperparámetros</a:t>
            </a:r>
            <a:r>
              <a:rPr lang="es-ES" sz="1600" b="0" strike="noStrike" spc="-1" dirty="0">
                <a:solidFill>
                  <a:srgbClr val="582808"/>
                </a:solidFill>
                <a:latin typeface="Calibri"/>
              </a:rPr>
              <a:t>. La optimización busca encontrar la combinación que minimiza el error y mejora la capacidad de generalización.</a:t>
            </a:r>
          </a:p>
          <a:p>
            <a:pPr algn="just" defTabSz="914400">
              <a:lnSpc>
                <a:spcPct val="100000"/>
              </a:lnSpc>
            </a:pPr>
            <a:endParaRPr lang="es-ES" sz="1600" spc="-1" dirty="0">
              <a:solidFill>
                <a:srgbClr val="582808"/>
              </a:solidFill>
              <a:latin typeface="Calibri"/>
            </a:endParaRPr>
          </a:p>
          <a:p>
            <a:pPr algn="just" defTabSz="914400">
              <a:lnSpc>
                <a:spcPct val="100000"/>
              </a:lnSpc>
            </a:pPr>
            <a:r>
              <a:rPr lang="es-ES" sz="1600" b="0" strike="noStrike" spc="-1" dirty="0">
                <a:solidFill>
                  <a:srgbClr val="582808"/>
                </a:solidFill>
                <a:latin typeface="Calibri"/>
              </a:rPr>
              <a:t>En este paso, se han optimizado el modelo lineal, </a:t>
            </a:r>
            <a:r>
              <a:rPr lang="es-ES" sz="1600" b="0" strike="noStrike" spc="-1" dirty="0" err="1">
                <a:solidFill>
                  <a:srgbClr val="582808"/>
                </a:solidFill>
                <a:latin typeface="Calibri"/>
              </a:rPr>
              <a:t>Random</a:t>
            </a:r>
            <a:r>
              <a:rPr lang="es-ES" sz="1600" b="0" strike="noStrike" spc="-1" dirty="0">
                <a:solidFill>
                  <a:srgbClr val="582808"/>
                </a:solidFill>
                <a:latin typeface="Calibri"/>
              </a:rPr>
              <a:t> Forest y </a:t>
            </a:r>
            <a:r>
              <a:rPr lang="es-ES" sz="1600" b="0" strike="noStrike" spc="-1" dirty="0" err="1">
                <a:solidFill>
                  <a:srgbClr val="582808"/>
                </a:solidFill>
                <a:latin typeface="Calibri"/>
              </a:rPr>
              <a:t>XGBoost</a:t>
            </a:r>
            <a:r>
              <a:rPr lang="es-ES" sz="1600" b="0" strike="noStrike" spc="-1" dirty="0">
                <a:solidFill>
                  <a:srgbClr val="582808"/>
                </a:solidFill>
                <a:latin typeface="Calibri"/>
              </a:rPr>
              <a:t> con el objetivo de maximizar el rendimiento de los modelos desarrollados durante la fase de modelado, garantizando al mismo tiempo su capacidad de generalización.</a:t>
            </a:r>
          </a:p>
          <a:p>
            <a:pPr algn="just" defTabSz="914400">
              <a:lnSpc>
                <a:spcPct val="100000"/>
              </a:lnSpc>
            </a:pPr>
            <a:endParaRPr lang="es-ES" sz="1600" spc="-1" dirty="0">
              <a:solidFill>
                <a:srgbClr val="582808"/>
              </a:solidFill>
              <a:latin typeface="Calibri"/>
            </a:endParaRPr>
          </a:p>
          <a:p>
            <a:pPr algn="just" defTabSz="914400">
              <a:lnSpc>
                <a:spcPct val="100000"/>
              </a:lnSpc>
            </a:pPr>
            <a:r>
              <a:rPr lang="es-ES" sz="1600" b="0" strike="noStrike" spc="-1" dirty="0">
                <a:solidFill>
                  <a:srgbClr val="582808"/>
                </a:solidFill>
                <a:latin typeface="Calibri"/>
              </a:rPr>
              <a:t>Para ello, se ha optado por el uso de </a:t>
            </a:r>
            <a:r>
              <a:rPr lang="es-ES" sz="1600" b="0" strike="noStrike" spc="-1" dirty="0" err="1">
                <a:solidFill>
                  <a:srgbClr val="582808"/>
                </a:solidFill>
                <a:latin typeface="Calibri"/>
              </a:rPr>
              <a:t>RandomizedSearchCV</a:t>
            </a:r>
            <a:r>
              <a:rPr lang="es-ES" sz="1600" b="0" strike="noStrike" spc="-1" dirty="0">
                <a:solidFill>
                  <a:srgbClr val="582808"/>
                </a:solidFill>
                <a:latin typeface="Calibri"/>
              </a:rPr>
              <a:t> frente a otras alternativas como </a:t>
            </a:r>
            <a:r>
              <a:rPr lang="es-ES" sz="1600" b="0" strike="noStrike" spc="-1" dirty="0" err="1">
                <a:solidFill>
                  <a:srgbClr val="582808"/>
                </a:solidFill>
                <a:latin typeface="Calibri"/>
              </a:rPr>
              <a:t>Grid</a:t>
            </a:r>
            <a:r>
              <a:rPr lang="es-ES" sz="1600" b="0" strike="noStrike" spc="-1" dirty="0">
                <a:solidFill>
                  <a:srgbClr val="582808"/>
                </a:solidFill>
                <a:latin typeface="Calibri"/>
              </a:rPr>
              <a:t> </a:t>
            </a:r>
            <a:r>
              <a:rPr lang="es-ES" sz="1600" b="0" strike="noStrike" spc="-1" dirty="0" err="1">
                <a:solidFill>
                  <a:srgbClr val="582808"/>
                </a:solidFill>
                <a:latin typeface="Calibri"/>
              </a:rPr>
              <a:t>Search</a:t>
            </a:r>
            <a:r>
              <a:rPr lang="es-ES" sz="1600" b="0" strike="noStrike" spc="-1" dirty="0">
                <a:solidFill>
                  <a:srgbClr val="582808"/>
                </a:solidFill>
                <a:latin typeface="Calibri"/>
              </a:rPr>
              <a:t>, debido a su mayor eficiencia computacional. Este método permite explorar el espacio de </a:t>
            </a:r>
            <a:r>
              <a:rPr lang="es-ES" sz="1600" b="0" strike="noStrike" spc="-1" dirty="0" err="1">
                <a:solidFill>
                  <a:srgbClr val="582808"/>
                </a:solidFill>
                <a:latin typeface="Calibri"/>
              </a:rPr>
              <a:t>hiperparámetros</a:t>
            </a:r>
            <a:r>
              <a:rPr lang="es-ES" sz="1600" b="0" strike="noStrike" spc="-1" dirty="0">
                <a:solidFill>
                  <a:srgbClr val="582808"/>
                </a:solidFill>
                <a:latin typeface="Calibri"/>
              </a:rPr>
              <a:t> de forma aleatoria, evaluando un número limitado de combinaciones pero cubriendo un rango amplio de valores.</a:t>
            </a:r>
          </a:p>
          <a:p>
            <a:pPr algn="just" defTabSz="914400">
              <a:lnSpc>
                <a:spcPct val="100000"/>
              </a:lnSpc>
            </a:pPr>
            <a:endParaRPr lang="es-ES" sz="1600" spc="-1" dirty="0">
              <a:solidFill>
                <a:srgbClr val="582808"/>
              </a:solidFill>
              <a:latin typeface="Calibri"/>
            </a:endParaRPr>
          </a:p>
          <a:p>
            <a:pPr algn="just" defTabSz="914400">
              <a:lnSpc>
                <a:spcPct val="100000"/>
              </a:lnSpc>
            </a:pPr>
            <a:r>
              <a:rPr lang="es-ES" sz="1600" b="0" strike="noStrike" spc="-1" dirty="0">
                <a:solidFill>
                  <a:srgbClr val="582808"/>
                </a:solidFill>
                <a:latin typeface="Calibri"/>
              </a:rPr>
              <a:t>La métrica seleccionada para la optimización ha sido el error cuadrático medio (RMSE), dado que el problema abordado es de regresión sobre variables continuas relacionadas con precios.</a:t>
            </a:r>
          </a:p>
          <a:p>
            <a:pPr algn="just" defTabSz="914400">
              <a:lnSpc>
                <a:spcPct val="100000"/>
              </a:lnSpc>
            </a:pPr>
            <a:endParaRPr lang="es-ES" sz="1600" spc="-1" dirty="0">
              <a:solidFill>
                <a:srgbClr val="582808"/>
              </a:solidFill>
              <a:latin typeface="Calibri"/>
            </a:endParaRPr>
          </a:p>
          <a:p>
            <a:pPr algn="just" defTabSz="914400">
              <a:lnSpc>
                <a:spcPct val="100000"/>
              </a:lnSpc>
            </a:pPr>
            <a:r>
              <a:rPr lang="es-ES" sz="1600" b="0" strike="noStrike" spc="-1" dirty="0">
                <a:solidFill>
                  <a:srgbClr val="582808"/>
                </a:solidFill>
                <a:latin typeface="Calibri"/>
              </a:rPr>
              <a:t>Finalmente, la validación cruzada con 5 particiones ha permitido obtener una estimación robusta del rendimiento del modelo, reduciendo la dependencia de una única partición de los datos y mejorando la fiabilidad de los resultados obtenidos.</a:t>
            </a:r>
          </a:p>
          <a:p>
            <a:pPr algn="just" defTabSz="914400">
              <a:lnSpc>
                <a:spcPct val="100000"/>
              </a:lnSpc>
            </a:pPr>
            <a:endParaRPr lang="es-ES" sz="1600" spc="-1" dirty="0">
              <a:solidFill>
                <a:srgbClr val="582808"/>
              </a:solidFill>
              <a:latin typeface="Calibri"/>
            </a:endParaRPr>
          </a:p>
          <a:p>
            <a:pPr algn="just" defTabSz="914400">
              <a:lnSpc>
                <a:spcPct val="100000"/>
              </a:lnSpc>
            </a:pPr>
            <a:endParaRPr lang="es-ES" sz="1600" b="0" strike="noStrike" spc="-1" dirty="0">
              <a:solidFill>
                <a:srgbClr val="000000"/>
              </a:solidFill>
              <a:latin typeface="Arial"/>
            </a:endParaRPr>
          </a:p>
        </p:txBody>
      </p:sp>
    </p:spTree>
    <p:extLst>
      <p:ext uri="{BB962C8B-B14F-4D97-AF65-F5344CB8AC3E}">
        <p14:creationId xmlns:p14="http://schemas.microsoft.com/office/powerpoint/2010/main" val="24893396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304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accent2">
                  <a:lumMod val="50000"/>
                </a:schemeClr>
              </a:solidFill>
              <a:latin typeface="Calibri"/>
            </a:endParaRPr>
          </a:p>
        </p:txBody>
      </p:sp>
      <p:sp>
        <p:nvSpPr>
          <p:cNvPr id="66" name="CuadroTexto 7"/>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3000" b="1" spc="-1" dirty="0">
                <a:solidFill>
                  <a:schemeClr val="accent2">
                    <a:lumMod val="50000"/>
                  </a:schemeClr>
                </a:solidFill>
                <a:latin typeface="+mj-lt"/>
              </a:rPr>
              <a:t>Evaluación final en test</a:t>
            </a:r>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pic>
        <p:nvPicPr>
          <p:cNvPr id="10" name="Imagen 28">
            <a:hlinkClick r:id="rId2" action="ppaction://hlinksldjump"/>
            <a:extLst>
              <a:ext uri="{FF2B5EF4-FFF2-40B4-BE49-F238E27FC236}">
                <a16:creationId xmlns:a16="http://schemas.microsoft.com/office/drawing/2014/main" id="{42D78302-A6EC-4729-9E70-A5A02898C129}"/>
              </a:ext>
            </a:extLst>
          </p:cNvPr>
          <p:cNvPicPr/>
          <p:nvPr/>
        </p:nvPicPr>
        <p:blipFill>
          <a:blip r:embed="rId3"/>
          <a:stretch/>
        </p:blipFill>
        <p:spPr>
          <a:xfrm>
            <a:off x="10477440" y="272022"/>
            <a:ext cx="1368360" cy="1014209"/>
          </a:xfrm>
          <a:prstGeom prst="rect">
            <a:avLst/>
          </a:prstGeom>
          <a:ln w="0">
            <a:noFill/>
          </a:ln>
        </p:spPr>
      </p:pic>
      <p:sp>
        <p:nvSpPr>
          <p:cNvPr id="7" name="CuadroTexto 16">
            <a:extLst>
              <a:ext uri="{FF2B5EF4-FFF2-40B4-BE49-F238E27FC236}">
                <a16:creationId xmlns:a16="http://schemas.microsoft.com/office/drawing/2014/main" id="{90F91F3A-1179-4A16-A5DE-BDAACFACC3F6}"/>
              </a:ext>
            </a:extLst>
          </p:cNvPr>
          <p:cNvSpPr/>
          <p:nvPr/>
        </p:nvSpPr>
        <p:spPr>
          <a:xfrm>
            <a:off x="715740" y="1756663"/>
            <a:ext cx="10946520" cy="82954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914400">
              <a:lnSpc>
                <a:spcPct val="100000"/>
              </a:lnSpc>
            </a:pPr>
            <a:r>
              <a:rPr lang="es-ES" sz="1600" b="0" strike="noStrike" spc="-1" dirty="0">
                <a:solidFill>
                  <a:srgbClr val="582808"/>
                </a:solidFill>
                <a:latin typeface="Calibri"/>
              </a:rPr>
              <a:t>La evaluación final se ha realizado sobre el conjunto de test, no utilizado durante el entrenamiento ni en la optimización de </a:t>
            </a:r>
            <a:r>
              <a:rPr lang="es-ES" sz="1600" b="0" strike="noStrike" spc="-1" dirty="0" err="1">
                <a:solidFill>
                  <a:srgbClr val="582808"/>
                </a:solidFill>
                <a:latin typeface="Calibri"/>
              </a:rPr>
              <a:t>hiperparámetros</a:t>
            </a:r>
            <a:r>
              <a:rPr lang="es-ES" sz="1600" b="0" strike="noStrike" spc="-1" dirty="0">
                <a:solidFill>
                  <a:srgbClr val="582808"/>
                </a:solidFill>
                <a:latin typeface="Calibri"/>
              </a:rPr>
              <a:t>. Esto garantiza una estimación realista del rendimiento del modelo en datos no vistos.</a:t>
            </a:r>
            <a:endParaRPr lang="es-ES" sz="1600" spc="-1" dirty="0">
              <a:solidFill>
                <a:srgbClr val="582808"/>
              </a:solidFill>
              <a:latin typeface="Calibri"/>
            </a:endParaRPr>
          </a:p>
          <a:p>
            <a:pPr algn="just" defTabSz="914400">
              <a:lnSpc>
                <a:spcPct val="100000"/>
              </a:lnSpc>
            </a:pPr>
            <a:endParaRPr lang="es-ES" sz="1600" b="0" strike="noStrike" spc="-1" dirty="0">
              <a:solidFill>
                <a:srgbClr val="000000"/>
              </a:solidFill>
              <a:latin typeface="Arial"/>
            </a:endParaRPr>
          </a:p>
        </p:txBody>
      </p:sp>
      <p:pic>
        <p:nvPicPr>
          <p:cNvPr id="3" name="Imagen 2">
            <a:extLst>
              <a:ext uri="{FF2B5EF4-FFF2-40B4-BE49-F238E27FC236}">
                <a16:creationId xmlns:a16="http://schemas.microsoft.com/office/drawing/2014/main" id="{9B266B83-578A-4691-BD30-DA07E8AFAEAA}"/>
              </a:ext>
            </a:extLst>
          </p:cNvPr>
          <p:cNvPicPr>
            <a:picLocks noChangeAspect="1"/>
          </p:cNvPicPr>
          <p:nvPr/>
        </p:nvPicPr>
        <p:blipFill>
          <a:blip r:embed="rId4"/>
          <a:stretch>
            <a:fillRect/>
          </a:stretch>
        </p:blipFill>
        <p:spPr>
          <a:xfrm>
            <a:off x="715740" y="2884935"/>
            <a:ext cx="5379600" cy="2461473"/>
          </a:xfrm>
          <a:prstGeom prst="rect">
            <a:avLst/>
          </a:prstGeom>
        </p:spPr>
      </p:pic>
      <p:pic>
        <p:nvPicPr>
          <p:cNvPr id="8" name="Imagen 7">
            <a:extLst>
              <a:ext uri="{FF2B5EF4-FFF2-40B4-BE49-F238E27FC236}">
                <a16:creationId xmlns:a16="http://schemas.microsoft.com/office/drawing/2014/main" id="{6A688265-B09A-410A-807C-506E7268784F}"/>
              </a:ext>
            </a:extLst>
          </p:cNvPr>
          <p:cNvPicPr>
            <a:picLocks noChangeAspect="1"/>
          </p:cNvPicPr>
          <p:nvPr/>
        </p:nvPicPr>
        <p:blipFill>
          <a:blip r:embed="rId5"/>
          <a:stretch>
            <a:fillRect/>
          </a:stretch>
        </p:blipFill>
        <p:spPr>
          <a:xfrm>
            <a:off x="6283320" y="2884935"/>
            <a:ext cx="5379600" cy="975445"/>
          </a:xfrm>
          <a:prstGeom prst="rect">
            <a:avLst/>
          </a:prstGeom>
        </p:spPr>
      </p:pic>
    </p:spTree>
    <p:extLst>
      <p:ext uri="{BB962C8B-B14F-4D97-AF65-F5344CB8AC3E}">
        <p14:creationId xmlns:p14="http://schemas.microsoft.com/office/powerpoint/2010/main" val="77901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ángulo 5"/>
          <p:cNvSpPr/>
          <p:nvPr/>
        </p:nvSpPr>
        <p:spPr>
          <a:xfrm>
            <a:off x="960" y="108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accent2">
                  <a:lumMod val="50000"/>
                </a:schemeClr>
              </a:solidFill>
              <a:latin typeface="Calibri"/>
            </a:endParaRPr>
          </a:p>
        </p:txBody>
      </p:sp>
      <p:sp>
        <p:nvSpPr>
          <p:cNvPr id="66" name="CuadroTexto 7"/>
          <p:cNvSpPr/>
          <p:nvPr/>
        </p:nvSpPr>
        <p:spPr>
          <a:xfrm>
            <a:off x="527760" y="479520"/>
            <a:ext cx="1113516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s-ES" sz="3500" b="1" spc="-1" dirty="0">
                <a:solidFill>
                  <a:schemeClr val="accent2">
                    <a:lumMod val="50000"/>
                  </a:schemeClr>
                </a:solidFill>
                <a:latin typeface="+mj-lt"/>
              </a:rPr>
              <a:t>Modelado y resultados: </a:t>
            </a:r>
            <a:r>
              <a:rPr lang="es-ES" sz="3000" b="1" spc="-1" dirty="0">
                <a:solidFill>
                  <a:schemeClr val="accent2">
                    <a:lumMod val="50000"/>
                  </a:schemeClr>
                </a:solidFill>
                <a:latin typeface="+mj-lt"/>
              </a:rPr>
              <a:t>Persistencia del modelo</a:t>
            </a:r>
            <a:endParaRPr lang="es-ES" sz="2500" b="1" spc="-1" dirty="0">
              <a:solidFill>
                <a:schemeClr val="accent2">
                  <a:lumMod val="50000"/>
                </a:schemeClr>
              </a:solidFill>
              <a:latin typeface="+mj-lt"/>
            </a:endParaRPr>
          </a:p>
        </p:txBody>
      </p:sp>
      <p:sp>
        <p:nvSpPr>
          <p:cNvPr id="67" name="CuadroTexto 2"/>
          <p:cNvSpPr/>
          <p:nvPr/>
        </p:nvSpPr>
        <p:spPr>
          <a:xfrm>
            <a:off x="716400" y="1947960"/>
            <a:ext cx="1094652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dirty="0">
              <a:solidFill>
                <a:srgbClr val="000000"/>
              </a:solidFill>
              <a:latin typeface="Arial"/>
            </a:endParaRPr>
          </a:p>
        </p:txBody>
      </p:sp>
      <p:pic>
        <p:nvPicPr>
          <p:cNvPr id="10" name="Imagen 28">
            <a:hlinkClick r:id="rId2" action="ppaction://hlinksldjump"/>
            <a:extLst>
              <a:ext uri="{FF2B5EF4-FFF2-40B4-BE49-F238E27FC236}">
                <a16:creationId xmlns:a16="http://schemas.microsoft.com/office/drawing/2014/main" id="{42D78302-A6EC-4729-9E70-A5A02898C129}"/>
              </a:ext>
            </a:extLst>
          </p:cNvPr>
          <p:cNvPicPr/>
          <p:nvPr/>
        </p:nvPicPr>
        <p:blipFill>
          <a:blip r:embed="rId3"/>
          <a:stretch/>
        </p:blipFill>
        <p:spPr>
          <a:xfrm>
            <a:off x="10477440" y="272022"/>
            <a:ext cx="1368360" cy="1014209"/>
          </a:xfrm>
          <a:prstGeom prst="rect">
            <a:avLst/>
          </a:prstGeom>
          <a:ln w="0">
            <a:noFill/>
          </a:ln>
        </p:spPr>
      </p:pic>
      <p:sp>
        <p:nvSpPr>
          <p:cNvPr id="7" name="CuadroTexto 16">
            <a:extLst>
              <a:ext uri="{FF2B5EF4-FFF2-40B4-BE49-F238E27FC236}">
                <a16:creationId xmlns:a16="http://schemas.microsoft.com/office/drawing/2014/main" id="{90F91F3A-1179-4A16-A5DE-BDAACFACC3F6}"/>
              </a:ext>
            </a:extLst>
          </p:cNvPr>
          <p:cNvSpPr/>
          <p:nvPr/>
        </p:nvSpPr>
        <p:spPr>
          <a:xfrm>
            <a:off x="715740" y="1756663"/>
            <a:ext cx="10946520" cy="82954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914400">
              <a:lnSpc>
                <a:spcPct val="100000"/>
              </a:lnSpc>
            </a:pPr>
            <a:r>
              <a:rPr lang="es-ES" sz="1600" b="0" strike="noStrike" spc="-1" dirty="0">
                <a:solidFill>
                  <a:srgbClr val="582808"/>
                </a:solidFill>
                <a:latin typeface="Calibri"/>
              </a:rPr>
              <a:t>El modelo final optimizado ha sido persistido mediante la utilización de </a:t>
            </a:r>
            <a:r>
              <a:rPr lang="es-ES" sz="1600" b="0" strike="noStrike" spc="-1" dirty="0" err="1">
                <a:solidFill>
                  <a:srgbClr val="582808"/>
                </a:solidFill>
                <a:latin typeface="Calibri"/>
              </a:rPr>
              <a:t>joblib</a:t>
            </a:r>
            <a:r>
              <a:rPr lang="es-ES" sz="1600" b="0" strike="noStrike" spc="-1" dirty="0">
                <a:solidFill>
                  <a:srgbClr val="582808"/>
                </a:solidFill>
                <a:latin typeface="Calibri"/>
              </a:rPr>
              <a:t> lo que permite su reutilización en entornos productivos y análisis posteriores sin necesidad de reentrenamiento. Esto es fundamental para garantizar la reproducibilidad del proyecto.</a:t>
            </a:r>
            <a:endParaRPr lang="es-ES" sz="1600" b="0" strike="noStrike" spc="-1" dirty="0">
              <a:solidFill>
                <a:srgbClr val="000000"/>
              </a:solidFill>
              <a:latin typeface="Arial"/>
            </a:endParaRPr>
          </a:p>
        </p:txBody>
      </p:sp>
      <p:pic>
        <p:nvPicPr>
          <p:cNvPr id="4" name="Imagen 3">
            <a:extLst>
              <a:ext uri="{FF2B5EF4-FFF2-40B4-BE49-F238E27FC236}">
                <a16:creationId xmlns:a16="http://schemas.microsoft.com/office/drawing/2014/main" id="{4C93416A-FFE0-46F8-B26B-69ECEFCBD4D4}"/>
              </a:ext>
            </a:extLst>
          </p:cNvPr>
          <p:cNvPicPr>
            <a:picLocks noChangeAspect="1"/>
          </p:cNvPicPr>
          <p:nvPr/>
        </p:nvPicPr>
        <p:blipFill>
          <a:blip r:embed="rId4"/>
          <a:stretch>
            <a:fillRect/>
          </a:stretch>
        </p:blipFill>
        <p:spPr>
          <a:xfrm>
            <a:off x="3275695" y="2777503"/>
            <a:ext cx="5639289" cy="2552921"/>
          </a:xfrm>
          <a:prstGeom prst="rect">
            <a:avLst/>
          </a:prstGeom>
        </p:spPr>
      </p:pic>
    </p:spTree>
    <p:extLst>
      <p:ext uri="{BB962C8B-B14F-4D97-AF65-F5344CB8AC3E}">
        <p14:creationId xmlns:p14="http://schemas.microsoft.com/office/powerpoint/2010/main" val="806153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8" name="CuadroTexto 7"/>
          <p:cNvSpPr/>
          <p:nvPr/>
        </p:nvSpPr>
        <p:spPr>
          <a:xfrm>
            <a:off x="527760" y="479520"/>
            <a:ext cx="1113516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5. Conclusiones</a:t>
            </a:r>
            <a:endParaRPr lang="es-ES" sz="3500" b="0" strike="noStrike" spc="-1" dirty="0">
              <a:solidFill>
                <a:srgbClr val="000000"/>
              </a:solidFill>
              <a:latin typeface="Arial"/>
            </a:endParaRPr>
          </a:p>
        </p:txBody>
      </p:sp>
      <p:pic>
        <p:nvPicPr>
          <p:cNvPr id="79" name="Imagen 6"/>
          <p:cNvPicPr/>
          <p:nvPr/>
        </p:nvPicPr>
        <p:blipFill>
          <a:blip r:embed="rId2"/>
          <a:stretch/>
        </p:blipFill>
        <p:spPr>
          <a:xfrm>
            <a:off x="10598040" y="479520"/>
            <a:ext cx="1064880" cy="797760"/>
          </a:xfrm>
          <a:prstGeom prst="rect">
            <a:avLst/>
          </a:prstGeom>
          <a:ln w="0">
            <a:noFill/>
          </a:ln>
        </p:spPr>
      </p:pic>
      <p:sp>
        <p:nvSpPr>
          <p:cNvPr id="80" name="CuadroTexto 1"/>
          <p:cNvSpPr/>
          <p:nvPr/>
        </p:nvSpPr>
        <p:spPr>
          <a:xfrm>
            <a:off x="646200" y="1411200"/>
            <a:ext cx="11135160" cy="420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a:solidFill>
                <a:srgbClr val="000000"/>
              </a:solidFill>
              <a:latin typeface="Arial"/>
            </a:endParaRPr>
          </a:p>
        </p:txBody>
      </p:sp>
      <p:sp>
        <p:nvSpPr>
          <p:cNvPr id="2" name="CuadroTexto 1">
            <a:extLst>
              <a:ext uri="{FF2B5EF4-FFF2-40B4-BE49-F238E27FC236}">
                <a16:creationId xmlns:a16="http://schemas.microsoft.com/office/drawing/2014/main" id="{F8996089-18CB-4C34-9582-8AC0FDB920C9}"/>
              </a:ext>
            </a:extLst>
          </p:cNvPr>
          <p:cNvSpPr txBox="1"/>
          <p:nvPr/>
        </p:nvSpPr>
        <p:spPr>
          <a:xfrm>
            <a:off x="646200" y="1524000"/>
            <a:ext cx="11016720" cy="4278094"/>
          </a:xfrm>
          <a:prstGeom prst="rect">
            <a:avLst/>
          </a:prstGeom>
          <a:noFill/>
        </p:spPr>
        <p:txBody>
          <a:bodyPr wrap="square" rtlCol="0">
            <a:spAutoFit/>
          </a:bodyPr>
          <a:lstStyle/>
          <a:p>
            <a:r>
              <a:rPr lang="es-ES" sz="1600" spc="-1" dirty="0">
                <a:solidFill>
                  <a:srgbClr val="582808"/>
                </a:solidFill>
                <a:latin typeface="Calibri"/>
              </a:rPr>
              <a:t>El proyecto ha seguido un flujo completo de análisis de datos y modelado predictivo, comenzando con la exploración inicial de los datos (EDA), continuando con el preprocesado y la ingeniería de variables, y finalizando con el entrenamiento, optimización y evaluación de modelos de Machine </a:t>
            </a:r>
            <a:r>
              <a:rPr lang="es-ES" sz="1600" spc="-1" dirty="0" err="1">
                <a:solidFill>
                  <a:srgbClr val="582808"/>
                </a:solidFill>
                <a:latin typeface="Calibri"/>
              </a:rPr>
              <a:t>Learning</a:t>
            </a:r>
            <a:r>
              <a:rPr lang="es-ES" sz="1600" spc="-1" dirty="0">
                <a:solidFill>
                  <a:srgbClr val="582808"/>
                </a:solidFill>
                <a:latin typeface="Calibri"/>
              </a:rPr>
              <a:t>.</a:t>
            </a:r>
            <a:br>
              <a:rPr lang="es-ES" sz="1600" spc="-1" dirty="0">
                <a:solidFill>
                  <a:srgbClr val="582808"/>
                </a:solidFill>
                <a:latin typeface="Calibri"/>
              </a:rPr>
            </a:br>
            <a:endParaRPr lang="es-ES" sz="1600" spc="-1" dirty="0">
              <a:solidFill>
                <a:srgbClr val="582808"/>
              </a:solidFill>
              <a:latin typeface="Calibri"/>
            </a:endParaRPr>
          </a:p>
          <a:p>
            <a:r>
              <a:rPr lang="es-ES" sz="1600" spc="-1" dirty="0">
                <a:solidFill>
                  <a:srgbClr val="582808"/>
                </a:solidFill>
                <a:latin typeface="Calibri"/>
              </a:rPr>
              <a:t>Este enfoque permitió:</a:t>
            </a:r>
          </a:p>
          <a:p>
            <a:pPr marL="216000" indent="-216000" algn="just" defTabSz="914400">
              <a:lnSpc>
                <a:spcPct val="100000"/>
              </a:lnSpc>
              <a:buClr>
                <a:srgbClr val="582808"/>
              </a:buClr>
              <a:buFont typeface="Wingdings" charset="2"/>
              <a:buChar char=""/>
            </a:pPr>
            <a:endParaRPr lang="es-ES" sz="1600" b="0" strike="noStrike" spc="-1" dirty="0">
              <a:solidFill>
                <a:srgbClr val="582808"/>
              </a:solidFill>
              <a:latin typeface="Calibri"/>
            </a:endParaRPr>
          </a:p>
          <a:p>
            <a:pPr marL="216000" indent="-216000" algn="just">
              <a:buClr>
                <a:srgbClr val="582808"/>
              </a:buClr>
              <a:buFont typeface="Wingdings" charset="2"/>
              <a:buChar char=""/>
            </a:pPr>
            <a:r>
              <a:rPr lang="es-ES" sz="1600" b="0" strike="noStrike" spc="-1" dirty="0">
                <a:solidFill>
                  <a:srgbClr val="582808"/>
                </a:solidFill>
                <a:latin typeface="Calibri"/>
              </a:rPr>
              <a:t>C</a:t>
            </a:r>
            <a:r>
              <a:rPr lang="es-ES" sz="1600" spc="-1" dirty="0">
                <a:solidFill>
                  <a:srgbClr val="582808"/>
                </a:solidFill>
                <a:latin typeface="Calibri"/>
              </a:rPr>
              <a:t>omprender la estructura de los datos</a:t>
            </a:r>
          </a:p>
          <a:p>
            <a:pPr marL="216000" indent="-216000" algn="just">
              <a:buClr>
                <a:srgbClr val="582808"/>
              </a:buClr>
              <a:buFont typeface="Wingdings" charset="2"/>
              <a:buChar char=""/>
            </a:pPr>
            <a:r>
              <a:rPr lang="es-ES" sz="1600" b="0" strike="noStrike" spc="-1" dirty="0">
                <a:solidFill>
                  <a:srgbClr val="582808"/>
                </a:solidFill>
                <a:latin typeface="Calibri"/>
              </a:rPr>
              <a:t>I</a:t>
            </a:r>
            <a:r>
              <a:rPr lang="es-ES" sz="1600" spc="-1" dirty="0">
                <a:solidFill>
                  <a:srgbClr val="582808"/>
                </a:solidFill>
                <a:latin typeface="Calibri"/>
              </a:rPr>
              <a:t>dentificar patrones relevantes</a:t>
            </a:r>
          </a:p>
          <a:p>
            <a:pPr marL="216000" indent="-216000" algn="just">
              <a:buClr>
                <a:srgbClr val="582808"/>
              </a:buClr>
              <a:buFont typeface="Wingdings" charset="2"/>
              <a:buChar char=""/>
            </a:pPr>
            <a:r>
              <a:rPr lang="es-ES" sz="1600" spc="-1" dirty="0">
                <a:solidFill>
                  <a:srgbClr val="582808"/>
                </a:solidFill>
                <a:latin typeface="Calibri"/>
              </a:rPr>
              <a:t>Preparar adecuadamente las variables para el modelado</a:t>
            </a:r>
          </a:p>
          <a:p>
            <a:pPr marL="216000" indent="-216000" algn="just">
              <a:buClr>
                <a:srgbClr val="582808"/>
              </a:buClr>
              <a:buFont typeface="Wingdings" charset="2"/>
              <a:buChar char=""/>
            </a:pPr>
            <a:r>
              <a:rPr lang="es-ES" sz="1600" spc="-1" dirty="0">
                <a:solidFill>
                  <a:srgbClr val="582808"/>
                </a:solidFill>
                <a:latin typeface="Calibri"/>
              </a:rPr>
              <a:t>Construir modelos capaces de generar predicciones fiables.</a:t>
            </a:r>
          </a:p>
          <a:p>
            <a:pPr marL="216000" indent="-216000" algn="just">
              <a:buClr>
                <a:srgbClr val="582808"/>
              </a:buClr>
              <a:buFont typeface="Wingdings" charset="2"/>
              <a:buChar char=""/>
            </a:pPr>
            <a:endParaRPr lang="es-ES" sz="1600" spc="-1" dirty="0">
              <a:solidFill>
                <a:srgbClr val="582808"/>
              </a:solidFill>
              <a:latin typeface="Calibri"/>
            </a:endParaRPr>
          </a:p>
          <a:p>
            <a:pPr algn="just">
              <a:buClr>
                <a:srgbClr val="582808"/>
              </a:buClr>
            </a:pPr>
            <a:r>
              <a:rPr lang="es-ES" sz="1600" spc="-1" dirty="0">
                <a:solidFill>
                  <a:srgbClr val="582808"/>
                </a:solidFill>
                <a:latin typeface="Calibri"/>
              </a:rPr>
              <a:t>El preprocesado de los datos fue una fase clave para mejorar la calidad del modelo. Durante esta etapa se realizaron diversas tareas como: tratamiento de valores nulos, transformación de variables categóricas, conversión de variables numéricas, selección de variables relevantes…</a:t>
            </a:r>
          </a:p>
          <a:p>
            <a:pPr algn="just">
              <a:buClr>
                <a:srgbClr val="582808"/>
              </a:buClr>
            </a:pPr>
            <a:endParaRPr lang="es-ES" sz="1600" spc="-1" dirty="0">
              <a:solidFill>
                <a:srgbClr val="582808"/>
              </a:solidFill>
              <a:latin typeface="Calibri"/>
            </a:endParaRPr>
          </a:p>
          <a:p>
            <a:pPr algn="just">
              <a:buClr>
                <a:srgbClr val="582808"/>
              </a:buClr>
            </a:pPr>
            <a:r>
              <a:rPr lang="es-ES" sz="1600" spc="-1" dirty="0">
                <a:solidFill>
                  <a:srgbClr val="582808"/>
                </a:solidFill>
                <a:latin typeface="Calibri"/>
              </a:rPr>
              <a:t>Estas transformaciones permitieron construir un conjunto de datos más consistente y adecuado para el entrenamiento de modelos de aprendizaje automático.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8" name="CuadroTexto 7"/>
          <p:cNvSpPr/>
          <p:nvPr/>
        </p:nvSpPr>
        <p:spPr>
          <a:xfrm>
            <a:off x="527760" y="479520"/>
            <a:ext cx="1113516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5. Conclusiones</a:t>
            </a:r>
            <a:endParaRPr lang="es-ES" sz="3500" b="0" strike="noStrike" spc="-1" dirty="0">
              <a:solidFill>
                <a:srgbClr val="000000"/>
              </a:solidFill>
              <a:latin typeface="Arial"/>
            </a:endParaRPr>
          </a:p>
        </p:txBody>
      </p:sp>
      <p:pic>
        <p:nvPicPr>
          <p:cNvPr id="79" name="Imagen 6"/>
          <p:cNvPicPr/>
          <p:nvPr/>
        </p:nvPicPr>
        <p:blipFill>
          <a:blip r:embed="rId2"/>
          <a:stretch/>
        </p:blipFill>
        <p:spPr>
          <a:xfrm>
            <a:off x="10598040" y="479520"/>
            <a:ext cx="1064880" cy="797760"/>
          </a:xfrm>
          <a:prstGeom prst="rect">
            <a:avLst/>
          </a:prstGeom>
          <a:ln w="0">
            <a:noFill/>
          </a:ln>
        </p:spPr>
      </p:pic>
      <p:sp>
        <p:nvSpPr>
          <p:cNvPr id="80" name="CuadroTexto 1"/>
          <p:cNvSpPr/>
          <p:nvPr/>
        </p:nvSpPr>
        <p:spPr>
          <a:xfrm>
            <a:off x="646200" y="1411200"/>
            <a:ext cx="11135160" cy="420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endParaRPr lang="es-ES" sz="1800" b="0" strike="noStrike" spc="-1">
              <a:solidFill>
                <a:srgbClr val="000000"/>
              </a:solidFill>
              <a:latin typeface="Arial"/>
            </a:endParaRPr>
          </a:p>
        </p:txBody>
      </p:sp>
      <p:sp>
        <p:nvSpPr>
          <p:cNvPr id="2" name="CuadroTexto 1">
            <a:extLst>
              <a:ext uri="{FF2B5EF4-FFF2-40B4-BE49-F238E27FC236}">
                <a16:creationId xmlns:a16="http://schemas.microsoft.com/office/drawing/2014/main" id="{F8996089-18CB-4C34-9582-8AC0FDB920C9}"/>
              </a:ext>
            </a:extLst>
          </p:cNvPr>
          <p:cNvSpPr txBox="1"/>
          <p:nvPr/>
        </p:nvSpPr>
        <p:spPr>
          <a:xfrm>
            <a:off x="646200" y="1524000"/>
            <a:ext cx="11016720" cy="3785652"/>
          </a:xfrm>
          <a:prstGeom prst="rect">
            <a:avLst/>
          </a:prstGeom>
          <a:noFill/>
        </p:spPr>
        <p:txBody>
          <a:bodyPr wrap="square" rtlCol="0">
            <a:spAutoFit/>
          </a:bodyPr>
          <a:lstStyle/>
          <a:p>
            <a:r>
              <a:rPr lang="es-ES" sz="1600" spc="-1" dirty="0">
                <a:solidFill>
                  <a:srgbClr val="582808"/>
                </a:solidFill>
                <a:latin typeface="Calibri"/>
              </a:rPr>
              <a:t>Durante el proceso de modelado se evaluaron diferentes algoritmos de regresión con el objetivo de identificar cuál ofrecía el mejor rendimiento predictivo. Para ello se utilizó una </a:t>
            </a:r>
            <a:r>
              <a:rPr lang="es-ES" sz="1600" b="1" spc="-1" dirty="0">
                <a:solidFill>
                  <a:srgbClr val="582808"/>
                </a:solidFill>
                <a:latin typeface="Calibri"/>
              </a:rPr>
              <a:t>pipeline de procesamiento.</a:t>
            </a:r>
          </a:p>
          <a:p>
            <a:endParaRPr lang="es-ES" sz="1600" b="1" spc="-1" dirty="0">
              <a:solidFill>
                <a:srgbClr val="582808"/>
              </a:solidFill>
              <a:latin typeface="Calibri"/>
            </a:endParaRPr>
          </a:p>
          <a:p>
            <a:r>
              <a:rPr lang="es-ES" sz="1600" spc="-1" dirty="0">
                <a:solidFill>
                  <a:srgbClr val="582808"/>
                </a:solidFill>
                <a:latin typeface="Calibri"/>
              </a:rPr>
              <a:t>Posteriormente con la </a:t>
            </a:r>
            <a:r>
              <a:rPr lang="es-ES" sz="1600" b="1" spc="-1" dirty="0">
                <a:solidFill>
                  <a:srgbClr val="582808"/>
                </a:solidFill>
                <a:latin typeface="Calibri"/>
              </a:rPr>
              <a:t>optimización de </a:t>
            </a:r>
            <a:r>
              <a:rPr lang="es-ES" sz="1600" b="1" spc="-1" dirty="0" err="1">
                <a:solidFill>
                  <a:srgbClr val="582808"/>
                </a:solidFill>
                <a:latin typeface="Calibri"/>
              </a:rPr>
              <a:t>hiperparámetros</a:t>
            </a:r>
            <a:r>
              <a:rPr lang="es-ES" sz="1600" b="1" spc="-1" dirty="0">
                <a:solidFill>
                  <a:srgbClr val="582808"/>
                </a:solidFill>
                <a:latin typeface="Calibri"/>
              </a:rPr>
              <a:t> </a:t>
            </a:r>
            <a:r>
              <a:rPr lang="es-ES" sz="1600" spc="-1" dirty="0">
                <a:solidFill>
                  <a:srgbClr val="582808"/>
                </a:solidFill>
                <a:latin typeface="Calibri"/>
              </a:rPr>
              <a:t>encontramos la configuración del modelo que ofrecía el mejor equilibrio entre capacidad de ajuste y generalización.</a:t>
            </a:r>
          </a:p>
          <a:p>
            <a:endParaRPr lang="es-ES" sz="1600" spc="-1" dirty="0">
              <a:solidFill>
                <a:srgbClr val="582808"/>
              </a:solidFill>
              <a:latin typeface="Calibri"/>
            </a:endParaRPr>
          </a:p>
          <a:p>
            <a:r>
              <a:rPr lang="es-ES" sz="1600" spc="-1" dirty="0">
                <a:solidFill>
                  <a:srgbClr val="582808"/>
                </a:solidFill>
                <a:latin typeface="Calibri"/>
              </a:rPr>
              <a:t>El modelo optimizado se evaluó utilizando un conjunto de datos de test independiente para medir su capacidad de generalización.</a:t>
            </a:r>
          </a:p>
          <a:p>
            <a:endParaRPr lang="es-ES" sz="1600" spc="-1" dirty="0">
              <a:solidFill>
                <a:srgbClr val="582808"/>
              </a:solidFill>
              <a:latin typeface="Calibri"/>
            </a:endParaRPr>
          </a:p>
          <a:p>
            <a:r>
              <a:rPr lang="es-ES" sz="1600" spc="-1" dirty="0">
                <a:solidFill>
                  <a:srgbClr val="582808"/>
                </a:solidFill>
                <a:latin typeface="Calibri"/>
              </a:rPr>
              <a:t>Los resultados obtenidos muestran que el modelo es capaz de capturar una parte significativa de la variabilidad de los precios, ofreciendo predicciones razonablemente precisas dentro del contexto del problema analizado.</a:t>
            </a:r>
          </a:p>
          <a:p>
            <a:endParaRPr lang="es-ES" sz="1600" spc="-1" dirty="0">
              <a:solidFill>
                <a:srgbClr val="582808"/>
              </a:solidFill>
              <a:latin typeface="Calibri"/>
            </a:endParaRPr>
          </a:p>
          <a:p>
            <a:r>
              <a:rPr lang="es-ES" sz="1600" spc="-1" dirty="0">
                <a:solidFill>
                  <a:srgbClr val="582808"/>
                </a:solidFill>
                <a:latin typeface="Calibri"/>
              </a:rPr>
              <a:t>A pesar de los resultados obtenidos, el modelo presenta algunas limitaciones que deben tenerse en cuenta como que los datos utilizados corresponden a una fotografía temporal concreta del mercado, lo que puede limitar la capacidad de generalización a otros periodos. Otra limitación es que el mercado inmobiliario y turístico está influido por factores externos (regulación, turismo, economía local) que pueden cambiar con el tiempo.</a:t>
            </a:r>
          </a:p>
        </p:txBody>
      </p:sp>
    </p:spTree>
    <p:extLst>
      <p:ext uri="{BB962C8B-B14F-4D97-AF65-F5344CB8AC3E}">
        <p14:creationId xmlns:p14="http://schemas.microsoft.com/office/powerpoint/2010/main" val="3429694607"/>
      </p:ext>
    </p:extLst>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521</TotalTime>
  <Words>2494</Words>
  <Application>Microsoft Office PowerPoint</Application>
  <PresentationFormat>Panorámica</PresentationFormat>
  <Paragraphs>139</Paragraphs>
  <Slides>18</Slides>
  <Notes>0</Notes>
  <HiddenSlides>0</HiddenSlides>
  <MMClips>0</MMClips>
  <ScaleCrop>false</ScaleCrop>
  <HeadingPairs>
    <vt:vector size="6" baseType="variant">
      <vt:variant>
        <vt:lpstr>Fuentes usadas</vt:lpstr>
      </vt:variant>
      <vt:variant>
        <vt:i4>6</vt:i4>
      </vt:variant>
      <vt:variant>
        <vt:lpstr>Tema</vt:lpstr>
      </vt:variant>
      <vt:variant>
        <vt:i4>11</vt:i4>
      </vt:variant>
      <vt:variant>
        <vt:lpstr>Títulos de diapositiva</vt:lpstr>
      </vt:variant>
      <vt:variant>
        <vt:i4>18</vt:i4>
      </vt:variant>
    </vt:vector>
  </HeadingPairs>
  <TitlesOfParts>
    <vt:vector size="35" baseType="lpstr">
      <vt:lpstr>Arial</vt:lpstr>
      <vt:lpstr>Calibri</vt:lpstr>
      <vt:lpstr>Calibri Light</vt:lpstr>
      <vt:lpstr>Symbol</vt:lpstr>
      <vt:lpstr>Times New Roman</vt:lpstr>
      <vt:lpstr>Wingdings</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Sara Ruiz Iniesta</dc:creator>
  <dc:description/>
  <cp:lastModifiedBy>Nazareth Montero Cordero</cp:lastModifiedBy>
  <cp:revision>30</cp:revision>
  <dcterms:created xsi:type="dcterms:W3CDTF">2026-01-04T18:35:09Z</dcterms:created>
  <dcterms:modified xsi:type="dcterms:W3CDTF">2026-03-05T21:35:13Z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Panorámica</vt:lpwstr>
  </property>
  <property fmtid="{D5CDD505-2E9C-101B-9397-08002B2CF9AE}" pid="4" name="Slides">
    <vt:i4>12</vt:i4>
  </property>
</Properties>
</file>